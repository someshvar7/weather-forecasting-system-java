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4"/>
  </p:notesMasterIdLst>
  <p:sldIdLst>
    <p:sldId id="256" r:id="rId3"/>
    <p:sldId id="257" r:id="rId5"/>
    <p:sldId id="268" r:id="rId6"/>
    <p:sldId id="258" r:id="rId7"/>
    <p:sldId id="270" r:id="rId8"/>
    <p:sldId id="275" r:id="rId9"/>
    <p:sldId id="259" r:id="rId10"/>
    <p:sldId id="260" r:id="rId11"/>
    <p:sldId id="274" r:id="rId12"/>
    <p:sldId id="269" r:id="rId13"/>
    <p:sldId id="272" r:id="rId14"/>
    <p:sldId id="276" r:id="rId15"/>
    <p:sldId id="267" r:id="rId16"/>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6"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00" autoAdjust="0"/>
    <p:restoredTop sz="94660"/>
  </p:normalViewPr>
  <p:slideViewPr>
    <p:cSldViewPr snapToGrid="0" showGuides="1">
      <p:cViewPr varScale="1">
        <p:scale>
          <a:sx n="73" d="100"/>
          <a:sy n="73" d="100"/>
        </p:scale>
        <p:origin x="54" y="948"/>
      </p:cViewPr>
      <p:guideLst>
        <p:guide orient="horz" pos="1626"/>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9"/>
        <p:cNvGrpSpPr/>
        <p:nvPr/>
      </p:nvGrpSpPr>
      <p:grpSpPr>
        <a:xfrm>
          <a:off x="0" y="0"/>
          <a:ext cx="0" cy="0"/>
          <a:chOff x="0" y="0"/>
          <a:chExt cx="0" cy="0"/>
        </a:xfrm>
      </p:grpSpPr>
      <p:sp>
        <p:nvSpPr>
          <p:cNvPr id="60" name="Google Shape;60;g2fd1057461b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 name="Google Shape;61;g2fd1057461b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67"/>
        <p:cNvGrpSpPr/>
        <p:nvPr/>
      </p:nvGrpSpPr>
      <p:grpSpPr>
        <a:xfrm>
          <a:off x="0" y="0"/>
          <a:ext cx="0" cy="0"/>
          <a:chOff x="0" y="0"/>
          <a:chExt cx="0" cy="0"/>
        </a:xfrm>
      </p:grpSpPr>
      <p:sp>
        <p:nvSpPr>
          <p:cNvPr id="68" name="Google Shape;68;g2fd1057461b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 name="Google Shape;69;g2fd1057461b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74"/>
        <p:cNvGrpSpPr/>
        <p:nvPr/>
      </p:nvGrpSpPr>
      <p:grpSpPr>
        <a:xfrm>
          <a:off x="0" y="0"/>
          <a:ext cx="0" cy="0"/>
          <a:chOff x="0" y="0"/>
          <a:chExt cx="0" cy="0"/>
        </a:xfrm>
      </p:grpSpPr>
      <p:sp>
        <p:nvSpPr>
          <p:cNvPr id="75" name="Google Shape;75;g2fd1057461b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2fd1057461b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1"/>
        <p:cNvGrpSpPr/>
        <p:nvPr/>
      </p:nvGrpSpPr>
      <p:grpSpPr>
        <a:xfrm>
          <a:off x="0" y="0"/>
          <a:ext cx="0" cy="0"/>
          <a:chOff x="0" y="0"/>
          <a:chExt cx="0" cy="0"/>
        </a:xfrm>
      </p:grpSpPr>
      <p:sp>
        <p:nvSpPr>
          <p:cNvPr id="82" name="Google Shape;82;g2fd1057461b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g2fd1057461b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1"/>
        <p:cNvGrpSpPr/>
        <p:nvPr/>
      </p:nvGrpSpPr>
      <p:grpSpPr>
        <a:xfrm>
          <a:off x="0" y="0"/>
          <a:ext cx="0" cy="0"/>
          <a:chOff x="0" y="0"/>
          <a:chExt cx="0" cy="0"/>
        </a:xfrm>
      </p:grpSpPr>
      <p:sp>
        <p:nvSpPr>
          <p:cNvPr id="82" name="Google Shape;82;g2fd1057461b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g2fd1057461b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30"/>
        <p:cNvGrpSpPr/>
        <p:nvPr/>
      </p:nvGrpSpPr>
      <p:grpSpPr>
        <a:xfrm>
          <a:off x="0" y="0"/>
          <a:ext cx="0" cy="0"/>
          <a:chOff x="0" y="0"/>
          <a:chExt cx="0" cy="0"/>
        </a:xfrm>
      </p:grpSpPr>
      <p:sp>
        <p:nvSpPr>
          <p:cNvPr id="131" name="Google Shape;131;g2fd1057461b_0_7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g2fd1057461b_0_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 matchingName="Title and body">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ColTx" matchingName="Title and two columns">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fld>
            <a:endParaRPr lang="en-GB"/>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3.xml"/><Relationship Id="rId2" Type="http://schemas.openxmlformats.org/officeDocument/2006/relationships/image" Target="../media/image3.jpe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3.jpeg"/><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3.xml"/><Relationship Id="rId2" Type="http://schemas.openxmlformats.org/officeDocument/2006/relationships/image" Target="../media/image3.jpeg"/><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3.jpeg"/><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2.png"/><Relationship Id="rId1" Type="http://schemas.openxmlformats.org/officeDocument/2006/relationships/image" Target="../media/image3.jpeg"/></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3.xml"/><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3.xml"/><Relationship Id="rId2" Type="http://schemas.openxmlformats.org/officeDocument/2006/relationships/image" Target="../media/image3.jpeg"/><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3.xml"/><Relationship Id="rId2" Type="http://schemas.openxmlformats.org/officeDocument/2006/relationships/image" Target="../media/image3.jpeg"/><Relationship Id="rId1" Type="http://schemas.openxmlformats.org/officeDocument/2006/relationships/image" Target="../media/image2.png"/></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themeOverride" Target="../theme/themeOverride1.xml"/><Relationship Id="rId2" Type="http://schemas.openxmlformats.org/officeDocument/2006/relationships/image" Target="../media/image3.jpeg"/><Relationship Id="rId1" Type="http://schemas.openxmlformats.org/officeDocument/2006/relationships/image" Target="../media/image2.png"/></Relationships>
</file>

<file path=ppt/slides/_rels/slide11.xml.rels><?xml version="1.0" encoding="UTF-8" standalone="yes"?>
<Relationships xmlns="http://schemas.openxmlformats.org/package/2006/relationships"><Relationship Id="rId5" Type="http://schemas.openxmlformats.org/officeDocument/2006/relationships/slideLayout" Target="../slideLayouts/slideLayout3.xml"/><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image" Target="../media/image3.jpeg"/><Relationship Id="rId1" Type="http://schemas.openxmlformats.org/officeDocument/2006/relationships/image" Target="../media/image2.png"/></Relationships>
</file>

<file path=ppt/slides/_rels/slide12.xml.rels><?xml version="1.0" encoding="UTF-8" standalone="yes"?>
<Relationships xmlns="http://schemas.openxmlformats.org/package/2006/relationships"><Relationship Id="rId5" Type="http://schemas.openxmlformats.org/officeDocument/2006/relationships/slideLayout" Target="../slideLayouts/slideLayout3.xml"/><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image" Target="../media/image3.jpeg"/><Relationship Id="rId1" Type="http://schemas.openxmlformats.org/officeDocument/2006/relationships/image" Target="../media/image2.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subTitle" idx="1"/>
          </p:nvPr>
        </p:nvSpPr>
        <p:spPr>
          <a:xfrm>
            <a:off x="311700" y="1898314"/>
            <a:ext cx="8520600" cy="1013700"/>
          </a:xfrm>
          <a:prstGeom prst="rect">
            <a:avLst/>
          </a:prstGeom>
        </p:spPr>
        <p:txBody>
          <a:bodyPr spcFirstLastPara="1" wrap="square" lIns="91425" tIns="91425" rIns="91425" bIns="91425" anchor="t" anchorCtr="0">
            <a:noAutofit/>
          </a:bodyPr>
          <a:lstStyle/>
          <a:p>
            <a:pPr marL="0" indent="0" algn="ctr">
              <a:buNone/>
            </a:pPr>
            <a:r>
              <a:rPr lang="en-US" sz="4000" b="1" dirty="0">
                <a:solidFill>
                  <a:schemeClr val="tx1"/>
                </a:solidFill>
                <a:latin typeface="Times New Roman" panose="02020603050405020304" pitchFamily="18" charset="0"/>
                <a:cs typeface="Times New Roman" panose="02020603050405020304" pitchFamily="18" charset="0"/>
              </a:rPr>
              <a:t>DIGITAL NOTICE BOARD SYSTEM</a:t>
            </a:r>
            <a:endParaRPr lang="en-IN" sz="4000" b="1" dirty="0">
              <a:solidFill>
                <a:schemeClr val="tx1"/>
              </a:solidFill>
              <a:latin typeface="Times New Roman" panose="02020603050405020304" pitchFamily="18" charset="0"/>
              <a:cs typeface="Times New Roman" panose="02020603050405020304" pitchFamily="18" charset="0"/>
            </a:endParaRPr>
          </a:p>
        </p:txBody>
      </p:sp>
      <p:pic>
        <p:nvPicPr>
          <p:cNvPr id="55" name="Google Shape;55;p13"/>
          <p:cNvPicPr preferRelativeResize="0"/>
          <p:nvPr/>
        </p:nvPicPr>
        <p:blipFill>
          <a:blip r:embed="rId1"/>
          <a:stretch>
            <a:fillRect/>
          </a:stretch>
        </p:blipFill>
        <p:spPr>
          <a:xfrm>
            <a:off x="132347" y="97725"/>
            <a:ext cx="4307305" cy="1358084"/>
          </a:xfrm>
          <a:prstGeom prst="rect">
            <a:avLst/>
          </a:prstGeom>
          <a:noFill/>
          <a:ln>
            <a:noFill/>
          </a:ln>
        </p:spPr>
      </p:pic>
      <p:sp>
        <p:nvSpPr>
          <p:cNvPr id="56" name="Google Shape;56;p13"/>
          <p:cNvSpPr txBox="1"/>
          <p:nvPr/>
        </p:nvSpPr>
        <p:spPr>
          <a:xfrm>
            <a:off x="-1" y="3899338"/>
            <a:ext cx="4439653" cy="835025"/>
          </a:xfrm>
          <a:prstGeom prst="rect">
            <a:avLst/>
          </a:prstGeom>
          <a:ln>
            <a:solidFill>
              <a:schemeClr val="bg1"/>
            </a:solidFill>
          </a:ln>
        </p:spPr>
        <p:style>
          <a:lnRef idx="2">
            <a:schemeClr val="accent2"/>
          </a:lnRef>
          <a:fillRef idx="1">
            <a:schemeClr val="lt1"/>
          </a:fillRef>
          <a:effectRef idx="0">
            <a:schemeClr val="accent2"/>
          </a:effectRef>
          <a:fontRef idx="minor">
            <a:schemeClr val="dk1"/>
          </a:fontRef>
        </p:style>
        <p:txBody>
          <a:bodyPr spcFirstLastPara="1" wrap="square" lIns="91425" tIns="91425" rIns="91425" bIns="91425" anchor="t" anchorCtr="0">
            <a:spAutoFit/>
          </a:bodyPr>
          <a:lstStyle/>
          <a:p>
            <a:pPr marL="0" lvl="0" indent="0" algn="ctr" rtl="0">
              <a:lnSpc>
                <a:spcPct val="100000"/>
              </a:lnSpc>
              <a:spcBef>
                <a:spcPts val="0"/>
              </a:spcBef>
              <a:spcAft>
                <a:spcPts val="0"/>
              </a:spcAft>
              <a:buNone/>
            </a:pPr>
            <a:r>
              <a:rPr lang="en-GB" sz="2000" b="1" dirty="0">
                <a:solidFill>
                  <a:schemeClr val="tx1"/>
                </a:solidFill>
                <a:latin typeface="Times New Roman" panose="02020603050405020304" pitchFamily="18" charset="0"/>
                <a:cs typeface="Times New Roman" panose="02020603050405020304" pitchFamily="18" charset="0"/>
              </a:rPr>
              <a:t>PRESENTED BY</a:t>
            </a:r>
            <a:endParaRPr sz="2000" dirty="0">
              <a:solidFill>
                <a:schemeClr val="tx1"/>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a:p>
            <a:pPr marL="0" lvl="0" indent="0" algn="ctr" rtl="0">
              <a:lnSpc>
                <a:spcPct val="100000"/>
              </a:lnSpc>
              <a:spcBef>
                <a:spcPts val="300"/>
              </a:spcBef>
              <a:spcAft>
                <a:spcPts val="0"/>
              </a:spcAft>
              <a:buNone/>
            </a:pPr>
            <a:r>
              <a:rPr lang="en-GB" sz="2000" b="1" dirty="0">
                <a:solidFill>
                  <a:schemeClr val="tx1"/>
                </a:solidFill>
                <a:latin typeface="Times New Roman" panose="02020603050405020304" pitchFamily="18" charset="0"/>
                <a:cs typeface="Times New Roman" panose="02020603050405020304" pitchFamily="18" charset="0"/>
              </a:rPr>
              <a:t>2303811710421153 – SOMESHVAR S</a:t>
            </a:r>
            <a:endParaRPr sz="1800" b="1" dirty="0">
              <a:solidFill>
                <a:schemeClr val="tx1"/>
              </a:solidFill>
              <a:latin typeface="Times New Roman" panose="02020603050405020304" pitchFamily="18" charset="0"/>
              <a:cs typeface="Times New Roman" panose="02020603050405020304" pitchFamily="18" charset="0"/>
            </a:endParaRPr>
          </a:p>
        </p:txBody>
      </p:sp>
      <p:sp>
        <p:nvSpPr>
          <p:cNvPr id="57" name="Google Shape;57;p13"/>
          <p:cNvSpPr txBox="1"/>
          <p:nvPr/>
        </p:nvSpPr>
        <p:spPr>
          <a:xfrm>
            <a:off x="4932946" y="3630033"/>
            <a:ext cx="4704348" cy="1415742"/>
          </a:xfrm>
          <a:prstGeom prst="rect">
            <a:avLst/>
          </a:prstGeom>
          <a:noFill/>
          <a:ln>
            <a:noFill/>
          </a:ln>
        </p:spPr>
        <p:txBody>
          <a:bodyPr spcFirstLastPara="1" wrap="square" lIns="91425" tIns="91425" rIns="91425" bIns="91425" anchor="t" anchorCtr="0">
            <a:spAutoFit/>
          </a:bodyPr>
          <a:lstStyle/>
          <a:p>
            <a:pPr algn="just">
              <a:spcBef>
                <a:spcPct val="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1800" b="1" dirty="0">
                <a:solidFill>
                  <a:schemeClr val="tx1"/>
                </a:solidFill>
                <a:latin typeface="Arial Narrow" panose="020B0606020202030204" pitchFamily="34" charset="0"/>
                <a:cs typeface="Arial" panose="020B0604020202020204" pitchFamily="34" charset="0"/>
              </a:rPr>
              <a:t>			</a:t>
            </a:r>
            <a:endParaRPr lang="en-US" altLang="en-US" sz="1800" b="1" dirty="0">
              <a:solidFill>
                <a:schemeClr val="tx1"/>
              </a:solidFill>
              <a:latin typeface="Arial Narrow" panose="020B0606020202030204" pitchFamily="34" charset="0"/>
              <a:cs typeface="Arial" panose="020B0604020202020204" pitchFamily="34" charset="0"/>
            </a:endParaRPr>
          </a:p>
          <a:p>
            <a:pPr algn="just">
              <a:spcBef>
                <a:spcPct val="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1800" b="1" dirty="0">
                <a:solidFill>
                  <a:schemeClr val="tx1"/>
                </a:solidFill>
                <a:latin typeface="Arial Narrow" panose="020B0606020202030204" pitchFamily="34" charset="0"/>
                <a:cs typeface="Arial" panose="020B0604020202020204" pitchFamily="34" charset="0"/>
              </a:rPr>
              <a:t>			</a:t>
            </a:r>
            <a:r>
              <a:rPr lang="en-US" altLang="en-US" sz="2000" b="1" dirty="0">
                <a:solidFill>
                  <a:schemeClr val="tx1"/>
                </a:solidFill>
                <a:latin typeface="Times New Roman" panose="02020603050405020304" pitchFamily="18" charset="0"/>
                <a:cs typeface="Times New Roman" panose="02020603050405020304" pitchFamily="18" charset="0"/>
              </a:rPr>
              <a:t>SUPERVISOR                                                                                		</a:t>
            </a:r>
            <a:r>
              <a:rPr lang="sv-SE" sz="2000" b="1" dirty="0">
                <a:latin typeface="Times New Roman" panose="02020603050405020304" pitchFamily="18" charset="0"/>
                <a:cs typeface="Times New Roman" panose="02020603050405020304" pitchFamily="18" charset="0"/>
              </a:rPr>
              <a:t>Mr.A.Malarmannan,M.E.,</a:t>
            </a:r>
            <a:r>
              <a:rPr lang="en-US" altLang="en-US" sz="2000" b="1" dirty="0">
                <a:solidFill>
                  <a:schemeClr val="tx1"/>
                </a:solidFill>
                <a:latin typeface="Times New Roman" panose="02020603050405020304" pitchFamily="18" charset="0"/>
                <a:cs typeface="Times New Roman" panose="02020603050405020304" pitchFamily="18" charset="0"/>
              </a:rPr>
              <a:t>,                                                                                                      				AP/CSE</a:t>
            </a:r>
            <a:r>
              <a:rPr lang="en-US" altLang="en-US" sz="2000" b="1" dirty="0">
                <a:solidFill>
                  <a:schemeClr val="tx1"/>
                </a:solidFill>
                <a:latin typeface="Arial Narrow" panose="020B0606020202030204" pitchFamily="34" charset="0"/>
                <a:cs typeface="Arial" panose="020B0604020202020204" pitchFamily="34" charset="0"/>
              </a:rPr>
              <a:t>.</a:t>
            </a:r>
            <a:endParaRPr lang="en-US" altLang="en-US" sz="1800" b="1" dirty="0">
              <a:solidFill>
                <a:schemeClr val="tx1"/>
              </a:solidFill>
              <a:latin typeface="Arial Narrow" panose="020B0606020202030204" pitchFamily="34" charset="0"/>
              <a:cs typeface="Arial" panose="020B0604020202020204" pitchFamily="34" charset="0"/>
            </a:endParaRPr>
          </a:p>
        </p:txBody>
      </p:sp>
      <p:pic>
        <p:nvPicPr>
          <p:cNvPr id="58" name="Google Shape;58;p13"/>
          <p:cNvPicPr preferRelativeResize="0"/>
          <p:nvPr/>
        </p:nvPicPr>
        <p:blipFill rotWithShape="1">
          <a:blip r:embed="rId2"/>
          <a:srcRect/>
          <a:stretch>
            <a:fillRect/>
          </a:stretch>
        </p:blipFill>
        <p:spPr>
          <a:xfrm>
            <a:off x="8139713" y="216571"/>
            <a:ext cx="799740" cy="7926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14"/>
          <p:cNvSpPr txBox="1"/>
          <p:nvPr/>
        </p:nvSpPr>
        <p:spPr>
          <a:xfrm>
            <a:off x="249400" y="1324850"/>
            <a:ext cx="7939500" cy="2553300"/>
          </a:xfrm>
          <a:prstGeom prst="rect">
            <a:avLst/>
          </a:prstGeom>
          <a:noFill/>
          <a:ln>
            <a:noFill/>
          </a:ln>
        </p:spPr>
        <p:txBody>
          <a:bodyPr spcFirstLastPara="1" wrap="square" lIns="91425" tIns="45700" rIns="91425" bIns="45700" anchor="t" anchorCtr="0">
            <a:noAutofit/>
          </a:bodyPr>
          <a:lstStyle/>
          <a:p>
            <a:pPr marL="457200" lvl="0" indent="-381000" algn="l" rtl="0">
              <a:lnSpc>
                <a:spcPct val="115000"/>
              </a:lnSpc>
              <a:spcBef>
                <a:spcPts val="0"/>
              </a:spcBef>
              <a:spcAft>
                <a:spcPts val="0"/>
              </a:spcAft>
              <a:buClr>
                <a:schemeClr val="dk1"/>
              </a:buClr>
              <a:buSzPts val="2400"/>
            </a:pPr>
            <a:endParaRPr lang="en-US" sz="2400" b="1" dirty="0">
              <a:solidFill>
                <a:schemeClr val="dk1"/>
              </a:solidFill>
            </a:endParaRPr>
          </a:p>
          <a:p>
            <a:pPr marL="457200" lvl="0" indent="-381000" algn="l" rtl="0">
              <a:lnSpc>
                <a:spcPct val="115000"/>
              </a:lnSpc>
              <a:spcBef>
                <a:spcPts val="0"/>
              </a:spcBef>
              <a:spcAft>
                <a:spcPts val="0"/>
              </a:spcAft>
              <a:buClr>
                <a:schemeClr val="dk1"/>
              </a:buClr>
              <a:buSzPts val="2400"/>
            </a:pPr>
            <a:endParaRPr lang="en-GB" sz="2400" b="1" dirty="0">
              <a:solidFill>
                <a:schemeClr val="dk1"/>
              </a:solidFill>
            </a:endParaRPr>
          </a:p>
          <a:p>
            <a:pPr marL="457200" lvl="0" indent="-381000" algn="l" rtl="0">
              <a:lnSpc>
                <a:spcPct val="115000"/>
              </a:lnSpc>
              <a:spcBef>
                <a:spcPts val="0"/>
              </a:spcBef>
              <a:spcAft>
                <a:spcPts val="0"/>
              </a:spcAft>
              <a:buClr>
                <a:schemeClr val="dk1"/>
              </a:buClr>
              <a:buSzPts val="2400"/>
              <a:buChar char="➢"/>
            </a:pPr>
            <a:endParaRPr sz="2400" b="1">
              <a:solidFill>
                <a:schemeClr val="dk1"/>
              </a:solidFill>
            </a:endParaRPr>
          </a:p>
          <a:p>
            <a:pPr marL="457200" lvl="0" indent="-381000" algn="l" rtl="0">
              <a:lnSpc>
                <a:spcPct val="115000"/>
              </a:lnSpc>
              <a:spcBef>
                <a:spcPts val="0"/>
              </a:spcBef>
              <a:spcAft>
                <a:spcPts val="0"/>
              </a:spcAft>
              <a:buClr>
                <a:schemeClr val="dk1"/>
              </a:buClr>
              <a:buSzPts val="2400"/>
              <a:buChar char="➢"/>
            </a:pPr>
            <a:endParaRPr sz="2400" b="1">
              <a:solidFill>
                <a:schemeClr val="dk1"/>
              </a:solidFill>
            </a:endParaRPr>
          </a:p>
        </p:txBody>
      </p:sp>
      <p:pic>
        <p:nvPicPr>
          <p:cNvPr id="64" name="Google Shape;64;p14"/>
          <p:cNvPicPr preferRelativeResize="0"/>
          <p:nvPr/>
        </p:nvPicPr>
        <p:blipFill rotWithShape="1">
          <a:blip r:embed="rId1"/>
          <a:srcRect/>
          <a:stretch>
            <a:fillRect/>
          </a:stretch>
        </p:blipFill>
        <p:spPr>
          <a:xfrm>
            <a:off x="0" y="3"/>
            <a:ext cx="762558" cy="762395"/>
          </a:xfrm>
          <a:prstGeom prst="rect">
            <a:avLst/>
          </a:prstGeom>
          <a:noFill/>
          <a:ln>
            <a:noFill/>
          </a:ln>
        </p:spPr>
      </p:pic>
      <p:pic>
        <p:nvPicPr>
          <p:cNvPr id="65" name="Google Shape;65;p14"/>
          <p:cNvPicPr preferRelativeResize="0"/>
          <p:nvPr/>
        </p:nvPicPr>
        <p:blipFill rotWithShape="1">
          <a:blip r:embed="rId2"/>
          <a:srcRect/>
          <a:stretch>
            <a:fillRect/>
          </a:stretch>
        </p:blipFill>
        <p:spPr>
          <a:xfrm>
            <a:off x="8319030" y="6"/>
            <a:ext cx="824970" cy="795591"/>
          </a:xfrm>
          <a:prstGeom prst="rect">
            <a:avLst/>
          </a:prstGeom>
          <a:noFill/>
          <a:ln>
            <a:noFill/>
          </a:ln>
        </p:spPr>
      </p:pic>
      <p:sp>
        <p:nvSpPr>
          <p:cNvPr id="66" name="Google Shape;66;p14"/>
          <p:cNvSpPr txBox="1"/>
          <p:nvPr/>
        </p:nvSpPr>
        <p:spPr>
          <a:xfrm>
            <a:off x="38100" y="120750"/>
            <a:ext cx="9067800" cy="554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GB" sz="2400" b="1" dirty="0">
                <a:solidFill>
                  <a:schemeClr val="tx1">
                    <a:lumMod val="85000"/>
                    <a:lumOff val="15000"/>
                  </a:schemeClr>
                </a:solidFill>
              </a:rPr>
              <a:t>PRESENTATION OVERVIEW</a:t>
            </a:r>
            <a:endParaRPr sz="2400" b="1">
              <a:solidFill>
                <a:schemeClr val="tx1">
                  <a:lumMod val="85000"/>
                  <a:lumOff val="15000"/>
                </a:schemeClr>
              </a:solidFill>
              <a:latin typeface="Calibri" panose="020F0502020204030204"/>
              <a:ea typeface="Calibri" panose="020F0502020204030204"/>
              <a:cs typeface="Calibri" panose="020F0502020204030204"/>
              <a:sym typeface="Calibri" panose="020F0502020204030204"/>
            </a:endParaRPr>
          </a:p>
        </p:txBody>
      </p:sp>
      <p:sp>
        <p:nvSpPr>
          <p:cNvPr id="6" name="Text Box 2"/>
          <p:cNvSpPr txBox="1">
            <a:spLocks noChangeArrowheads="1"/>
          </p:cNvSpPr>
          <p:nvPr/>
        </p:nvSpPr>
        <p:spPr bwMode="auto">
          <a:xfrm>
            <a:off x="955100" y="595236"/>
            <a:ext cx="7758137" cy="4272643"/>
          </a:xfrm>
          <a:prstGeom prst="rect">
            <a:avLst/>
          </a:prstGeom>
          <a:noFill/>
          <a:ln>
            <a:noFill/>
          </a:ln>
        </p:spPr>
        <p:txBody>
          <a:bodyPr/>
          <a:lstStyle>
            <a:lvl1pPr marL="342900" indent="-34163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ea typeface="WenQuanYi Micro Hei"/>
                <a:cs typeface="WenQuanYi Micro Hei"/>
              </a:defRPr>
            </a:lvl1pPr>
            <a:lvl2pPr indent="-28448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ea typeface="WenQuanYi Micro Hei"/>
                <a:cs typeface="WenQuanYi Micro Hei"/>
              </a:defRPr>
            </a:lvl2pPr>
            <a:lvl3pPr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ea typeface="WenQuanYi Micro Hei"/>
                <a:cs typeface="WenQuanYi Micro Hei"/>
              </a:defRPr>
            </a:lvl3pPr>
            <a:lvl4pPr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ea typeface="WenQuanYi Micro Hei"/>
                <a:cs typeface="WenQuanYi Micro Hei"/>
              </a:defRPr>
            </a:lvl4pPr>
            <a:lvl5pPr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ea typeface="WenQuanYi Micro Hei"/>
                <a:cs typeface="WenQuanYi Micro Hei"/>
              </a:defRPr>
            </a:lvl5pPr>
            <a:lvl6pPr marL="25146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ea typeface="WenQuanYi Micro Hei"/>
                <a:cs typeface="WenQuanYi Micro Hei"/>
              </a:defRPr>
            </a:lvl6pPr>
            <a:lvl7pPr marL="29718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ea typeface="WenQuanYi Micro Hei"/>
                <a:cs typeface="WenQuanYi Micro Hei"/>
              </a:defRPr>
            </a:lvl7pPr>
            <a:lvl8pPr marL="34290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ea typeface="WenQuanYi Micro Hei"/>
                <a:cs typeface="WenQuanYi Micro Hei"/>
              </a:defRPr>
            </a:lvl8pPr>
            <a:lvl9pPr marL="38862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ea typeface="WenQuanYi Micro Hei"/>
                <a:cs typeface="WenQuanYi Micro Hei"/>
              </a:defRPr>
            </a:lvl9pPr>
          </a:lstStyle>
          <a:p>
            <a:pPr marL="344170" indent="-342900" algn="just" eaLnBrk="1" hangingPunct="1">
              <a:lnSpc>
                <a:spcPct val="150000"/>
              </a:lnSpc>
              <a:spcBef>
                <a:spcPts val="325"/>
              </a:spcBef>
              <a:buClr>
                <a:srgbClr val="000000"/>
              </a:buClr>
              <a:buSzPct val="100000"/>
              <a:buFont typeface="+mj-lt"/>
              <a:buAutoNum type="arabicPeriod"/>
              <a:defRPr/>
            </a:pPr>
            <a:r>
              <a:rPr lang="en-US" altLang="en-US" sz="1800" b="1" dirty="0">
                <a:solidFill>
                  <a:srgbClr val="000000"/>
                </a:solidFill>
                <a:latin typeface="Times New Roman" panose="02020603050405020304" pitchFamily="18" charset="0"/>
                <a:cs typeface="Times New Roman" panose="02020603050405020304" pitchFamily="18" charset="0"/>
              </a:rPr>
              <a:t>Objective</a:t>
            </a:r>
            <a:endParaRPr lang="en-US" altLang="en-US" sz="1800" b="1" dirty="0">
              <a:solidFill>
                <a:srgbClr val="000000"/>
              </a:solidFill>
              <a:latin typeface="Times New Roman" panose="02020603050405020304" pitchFamily="18" charset="0"/>
              <a:cs typeface="Times New Roman" panose="02020603050405020304" pitchFamily="18" charset="0"/>
            </a:endParaRPr>
          </a:p>
          <a:p>
            <a:pPr marL="344170" indent="-342900" algn="just" eaLnBrk="1" hangingPunct="1">
              <a:lnSpc>
                <a:spcPct val="150000"/>
              </a:lnSpc>
              <a:spcBef>
                <a:spcPts val="325"/>
              </a:spcBef>
              <a:buClr>
                <a:srgbClr val="000000"/>
              </a:buClr>
              <a:buSzPct val="100000"/>
              <a:buFont typeface="+mj-lt"/>
              <a:buAutoNum type="arabicPeriod"/>
              <a:defRPr/>
            </a:pPr>
            <a:r>
              <a:rPr lang="en-US" altLang="en-US" sz="1800" b="1" dirty="0">
                <a:solidFill>
                  <a:srgbClr val="000000"/>
                </a:solidFill>
                <a:latin typeface="Times New Roman" panose="02020603050405020304" pitchFamily="18" charset="0"/>
                <a:cs typeface="Times New Roman" panose="02020603050405020304" pitchFamily="18" charset="0"/>
              </a:rPr>
              <a:t>Project Introduction</a:t>
            </a:r>
            <a:endParaRPr lang="en-US" altLang="en-US" sz="1800" b="1" dirty="0">
              <a:solidFill>
                <a:srgbClr val="000000"/>
              </a:solidFill>
              <a:latin typeface="Times New Roman" panose="02020603050405020304" pitchFamily="18" charset="0"/>
              <a:cs typeface="Times New Roman" panose="02020603050405020304" pitchFamily="18" charset="0"/>
            </a:endParaRPr>
          </a:p>
          <a:p>
            <a:pPr marL="344170" indent="-342900" algn="just" eaLnBrk="1" hangingPunct="1">
              <a:lnSpc>
                <a:spcPct val="150000"/>
              </a:lnSpc>
              <a:spcBef>
                <a:spcPts val="325"/>
              </a:spcBef>
              <a:buClr>
                <a:srgbClr val="000000"/>
              </a:buClr>
              <a:buSzPct val="100000"/>
              <a:buFont typeface="+mj-lt"/>
              <a:buAutoNum type="arabicPeriod"/>
              <a:defRPr/>
            </a:pPr>
            <a:r>
              <a:rPr lang="en-US" altLang="en-US" sz="1800" b="1" dirty="0">
                <a:solidFill>
                  <a:srgbClr val="000000"/>
                </a:solidFill>
                <a:latin typeface="Times New Roman" panose="02020603050405020304" pitchFamily="18" charset="0"/>
                <a:cs typeface="Times New Roman" panose="02020603050405020304" pitchFamily="18" charset="0"/>
              </a:rPr>
              <a:t>Problem Statement</a:t>
            </a:r>
            <a:endParaRPr lang="en-US" altLang="en-US" sz="1800" b="1" dirty="0">
              <a:solidFill>
                <a:srgbClr val="000000"/>
              </a:solidFill>
              <a:latin typeface="Times New Roman" panose="02020603050405020304" pitchFamily="18" charset="0"/>
              <a:cs typeface="Times New Roman" panose="02020603050405020304" pitchFamily="18" charset="0"/>
            </a:endParaRPr>
          </a:p>
          <a:p>
            <a:pPr marL="344170" indent="-342900" algn="just" eaLnBrk="1" hangingPunct="1">
              <a:lnSpc>
                <a:spcPct val="150000"/>
              </a:lnSpc>
              <a:spcBef>
                <a:spcPts val="325"/>
              </a:spcBef>
              <a:buClr>
                <a:srgbClr val="000000"/>
              </a:buClr>
              <a:buSzPct val="100000"/>
              <a:buFont typeface="+mj-lt"/>
              <a:buAutoNum type="arabicPeriod"/>
              <a:defRPr/>
            </a:pPr>
            <a:r>
              <a:rPr lang="en-US" altLang="en-US" sz="1800" b="1" dirty="0">
                <a:solidFill>
                  <a:srgbClr val="000000"/>
                </a:solidFill>
                <a:latin typeface="Times New Roman" panose="02020603050405020304" pitchFamily="18" charset="0"/>
                <a:cs typeface="Times New Roman" panose="02020603050405020304" pitchFamily="18" charset="0"/>
              </a:rPr>
              <a:t>Methodologies (Programming concepts relevant to problem statement)</a:t>
            </a:r>
            <a:endParaRPr lang="en-US" altLang="en-US" sz="1800" b="1" dirty="0">
              <a:solidFill>
                <a:srgbClr val="000000"/>
              </a:solidFill>
              <a:latin typeface="Times New Roman" panose="02020603050405020304" pitchFamily="18" charset="0"/>
              <a:cs typeface="Times New Roman" panose="02020603050405020304" pitchFamily="18" charset="0"/>
            </a:endParaRPr>
          </a:p>
          <a:p>
            <a:pPr marL="344170" indent="-342900" algn="just" eaLnBrk="1" hangingPunct="1">
              <a:lnSpc>
                <a:spcPct val="150000"/>
              </a:lnSpc>
              <a:spcBef>
                <a:spcPts val="325"/>
              </a:spcBef>
              <a:buClr>
                <a:srgbClr val="000000"/>
              </a:buClr>
              <a:buSzPct val="100000"/>
              <a:buFont typeface="+mj-lt"/>
              <a:buAutoNum type="arabicPeriod"/>
              <a:defRPr/>
            </a:pPr>
            <a:r>
              <a:rPr lang="en-US" sz="1800" b="1" dirty="0">
                <a:latin typeface="Times New Roman" panose="02020603050405020304" pitchFamily="18" charset="0"/>
                <a:cs typeface="Times New Roman" panose="02020603050405020304" pitchFamily="18" charset="0"/>
              </a:rPr>
              <a:t>Architecture of the proposed system </a:t>
            </a:r>
            <a:endParaRPr lang="en-US" sz="1800" b="1" dirty="0">
              <a:latin typeface="Times New Roman" panose="02020603050405020304" pitchFamily="18" charset="0"/>
              <a:cs typeface="Times New Roman" panose="02020603050405020304" pitchFamily="18" charset="0"/>
            </a:endParaRPr>
          </a:p>
          <a:p>
            <a:pPr marL="344170" indent="-342900" algn="just" eaLnBrk="1" hangingPunct="1">
              <a:lnSpc>
                <a:spcPct val="150000"/>
              </a:lnSpc>
              <a:spcBef>
                <a:spcPts val="325"/>
              </a:spcBef>
              <a:buClr>
                <a:srgbClr val="000000"/>
              </a:buClr>
              <a:buSzPct val="100000"/>
              <a:buFont typeface="+mj-lt"/>
              <a:buAutoNum type="arabicPeriod"/>
              <a:defRPr/>
            </a:pPr>
            <a:r>
              <a:rPr lang="en-US" altLang="en-US" sz="1800" b="1" dirty="0">
                <a:solidFill>
                  <a:srgbClr val="000000"/>
                </a:solidFill>
                <a:latin typeface="Times New Roman" panose="02020603050405020304" pitchFamily="18" charset="0"/>
                <a:cs typeface="Times New Roman" panose="02020603050405020304" pitchFamily="18" charset="0"/>
              </a:rPr>
              <a:t>List of Modules</a:t>
            </a:r>
            <a:endParaRPr lang="en-US" sz="1800" b="1" dirty="0">
              <a:latin typeface="Times New Roman" panose="02020603050405020304" pitchFamily="18" charset="0"/>
              <a:cs typeface="Times New Roman" panose="02020603050405020304" pitchFamily="18" charset="0"/>
            </a:endParaRPr>
          </a:p>
          <a:p>
            <a:pPr marL="344170" indent="-342900" algn="just" eaLnBrk="1" hangingPunct="1">
              <a:lnSpc>
                <a:spcPct val="150000"/>
              </a:lnSpc>
              <a:spcBef>
                <a:spcPts val="325"/>
              </a:spcBef>
              <a:buClr>
                <a:srgbClr val="000000"/>
              </a:buClr>
              <a:buSzPct val="100000"/>
              <a:buFont typeface="+mj-lt"/>
              <a:buAutoNum type="arabicPeriod"/>
              <a:defRPr/>
            </a:pPr>
            <a:r>
              <a:rPr lang="en-US" sz="1800" b="1" dirty="0">
                <a:latin typeface="Times New Roman" panose="02020603050405020304" pitchFamily="18" charset="0"/>
                <a:cs typeface="Times New Roman" panose="02020603050405020304" pitchFamily="18" charset="0"/>
              </a:rPr>
              <a:t>Merits </a:t>
            </a:r>
            <a:endParaRPr lang="en-US" sz="1800" b="1" dirty="0">
              <a:latin typeface="Times New Roman" panose="02020603050405020304" pitchFamily="18" charset="0"/>
              <a:cs typeface="Times New Roman" panose="02020603050405020304" pitchFamily="18" charset="0"/>
            </a:endParaRPr>
          </a:p>
          <a:p>
            <a:pPr marL="344170" indent="-342900" algn="just" eaLnBrk="1" hangingPunct="1">
              <a:lnSpc>
                <a:spcPct val="150000"/>
              </a:lnSpc>
              <a:spcBef>
                <a:spcPts val="325"/>
              </a:spcBef>
              <a:buClr>
                <a:srgbClr val="000000"/>
              </a:buClr>
              <a:buSzPct val="100000"/>
              <a:buFont typeface="+mj-lt"/>
              <a:buAutoNum type="arabicPeriod"/>
              <a:defRPr/>
            </a:pPr>
            <a:r>
              <a:rPr lang="en-US" sz="1800" b="1" dirty="0">
                <a:latin typeface="Times New Roman" panose="02020603050405020304" pitchFamily="18" charset="0"/>
                <a:cs typeface="Times New Roman" panose="02020603050405020304" pitchFamily="18" charset="0"/>
              </a:rPr>
              <a:t>Results and Discussion</a:t>
            </a:r>
            <a:endParaRPr lang="en-US" sz="1800" b="1" dirty="0">
              <a:latin typeface="Times New Roman" panose="02020603050405020304" pitchFamily="18" charset="0"/>
              <a:cs typeface="Times New Roman" panose="02020603050405020304" pitchFamily="18" charset="0"/>
            </a:endParaRPr>
          </a:p>
          <a:p>
            <a:pPr marL="344170" indent="-342900" algn="just" eaLnBrk="1" hangingPunct="1">
              <a:lnSpc>
                <a:spcPct val="150000"/>
              </a:lnSpc>
              <a:spcBef>
                <a:spcPts val="325"/>
              </a:spcBef>
              <a:buClr>
                <a:srgbClr val="000000"/>
              </a:buClr>
              <a:buSzPct val="100000"/>
              <a:buFont typeface="+mj-lt"/>
              <a:buAutoNum type="arabicPeriod"/>
              <a:defRPr/>
            </a:pPr>
            <a:r>
              <a:rPr lang="en-US" sz="1800" b="1" dirty="0">
                <a:latin typeface="Times New Roman" panose="02020603050405020304" pitchFamily="18" charset="0"/>
                <a:cs typeface="Times New Roman" panose="02020603050405020304" pitchFamily="18" charset="0"/>
              </a:rPr>
              <a:t>Queries</a:t>
            </a:r>
            <a:endParaRPr lang="en-US" sz="1800" b="1" dirty="0">
              <a:latin typeface="Times New Roman" panose="02020603050405020304" pitchFamily="18" charset="0"/>
              <a:cs typeface="Times New Roman" panose="02020603050405020304" pitchFamily="18" charset="0"/>
            </a:endParaRPr>
          </a:p>
          <a:p>
            <a:pPr marL="1270" indent="0" algn="just" eaLnBrk="1" hangingPunct="1">
              <a:lnSpc>
                <a:spcPct val="150000"/>
              </a:lnSpc>
              <a:spcBef>
                <a:spcPts val="325"/>
              </a:spcBef>
              <a:buClr>
                <a:srgbClr val="000000"/>
              </a:buClr>
              <a:buSzPct val="100000"/>
              <a:defRPr/>
            </a:pPr>
            <a:endParaRPr lang="en-US" sz="2000" b="1"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0494" y="248804"/>
            <a:ext cx="8520600" cy="651642"/>
          </a:xfrm>
        </p:spPr>
        <p:txBody>
          <a:bodyPr>
            <a:normAutofit/>
          </a:bodyPr>
          <a:lstStyle/>
          <a:p>
            <a:pPr algn="ctr">
              <a:buClr>
                <a:srgbClr val="000000"/>
              </a:buClr>
            </a:pPr>
            <a:r>
              <a:rPr lang="en-US" sz="2400" b="1" dirty="0">
                <a:solidFill>
                  <a:schemeClr val="tx1">
                    <a:lumMod val="85000"/>
                    <a:lumOff val="15000"/>
                  </a:schemeClr>
                </a:solidFill>
              </a:rPr>
              <a:t>OBJECTIVE</a:t>
            </a:r>
            <a:endParaRPr lang="en-US" sz="2400" b="1" dirty="0">
              <a:solidFill>
                <a:schemeClr val="tx1">
                  <a:lumMod val="85000"/>
                  <a:lumOff val="15000"/>
                </a:schemeClr>
              </a:solidFill>
            </a:endParaRPr>
          </a:p>
        </p:txBody>
      </p:sp>
      <p:sp>
        <p:nvSpPr>
          <p:cNvPr id="3" name="Text Placeholder 2"/>
          <p:cNvSpPr>
            <a:spLocks noGrp="1"/>
          </p:cNvSpPr>
          <p:nvPr>
            <p:ph type="body" idx="1"/>
          </p:nvPr>
        </p:nvSpPr>
        <p:spPr>
          <a:xfrm>
            <a:off x="311700" y="1011199"/>
            <a:ext cx="8520600" cy="3557676"/>
          </a:xfrm>
        </p:spPr>
        <p:txBody>
          <a:bodyPr>
            <a:normAutofit/>
          </a:bodyPr>
          <a:lstStyle/>
          <a:p>
            <a:pPr marL="114300" indent="0">
              <a:buNone/>
            </a:pPr>
            <a:endParaRPr lang="en-US" sz="1400" dirty="0">
              <a:latin typeface="Times New Roman" panose="02020603050405020304" pitchFamily="18" charset="0"/>
              <a:cs typeface="Times New Roman" panose="02020603050405020304" pitchFamily="18" charset="0"/>
            </a:endParaRPr>
          </a:p>
          <a:p>
            <a:pPr>
              <a:buFont typeface="+mj-lt"/>
              <a:buAutoNum type="arabicPeriod"/>
            </a:pPr>
            <a:endParaRPr lang="en-US" sz="1400" dirty="0">
              <a:latin typeface="Times New Roman" panose="02020603050405020304" pitchFamily="18" charset="0"/>
              <a:cs typeface="Times New Roman" panose="02020603050405020304" pitchFamily="18" charset="0"/>
            </a:endParaRPr>
          </a:p>
        </p:txBody>
      </p:sp>
      <p:pic>
        <p:nvPicPr>
          <p:cNvPr id="4" name="Google Shape;71;p15"/>
          <p:cNvPicPr preferRelativeResize="0"/>
          <p:nvPr/>
        </p:nvPicPr>
        <p:blipFill rotWithShape="1">
          <a:blip r:embed="rId1"/>
          <a:srcRect/>
          <a:stretch>
            <a:fillRect/>
          </a:stretch>
        </p:blipFill>
        <p:spPr>
          <a:xfrm>
            <a:off x="165100" y="138051"/>
            <a:ext cx="762558" cy="762395"/>
          </a:xfrm>
          <a:prstGeom prst="rect">
            <a:avLst/>
          </a:prstGeom>
          <a:noFill/>
          <a:ln>
            <a:noFill/>
          </a:ln>
        </p:spPr>
      </p:pic>
      <p:pic>
        <p:nvPicPr>
          <p:cNvPr id="5" name="Google Shape;72;p15"/>
          <p:cNvPicPr preferRelativeResize="0"/>
          <p:nvPr/>
        </p:nvPicPr>
        <p:blipFill rotWithShape="1">
          <a:blip r:embed="rId2"/>
          <a:srcRect/>
          <a:stretch>
            <a:fillRect/>
          </a:stretch>
        </p:blipFill>
        <p:spPr>
          <a:xfrm>
            <a:off x="8287545" y="138051"/>
            <a:ext cx="824970" cy="795591"/>
          </a:xfrm>
          <a:prstGeom prst="rect">
            <a:avLst/>
          </a:prstGeom>
          <a:noFill/>
          <a:ln>
            <a:noFill/>
          </a:ln>
        </p:spPr>
      </p:pic>
      <p:sp>
        <p:nvSpPr>
          <p:cNvPr id="7" name="TextBox 6"/>
          <p:cNvSpPr txBox="1"/>
          <p:nvPr/>
        </p:nvSpPr>
        <p:spPr>
          <a:xfrm>
            <a:off x="653415" y="933450"/>
            <a:ext cx="8046720" cy="4095115"/>
          </a:xfrm>
          <a:prstGeom prst="rect">
            <a:avLst/>
          </a:prstGeom>
          <a:noFill/>
        </p:spPr>
        <p:txBody>
          <a:bodyPr wrap="square">
            <a:noAutofit/>
          </a:bodyPr>
          <a:lstStyle/>
          <a:p>
            <a:pPr marL="342900" indent="-342900" algn="just">
              <a:buFont typeface="Wingdings" panose="05000000000000000000" pitchFamily="2" charset="2"/>
              <a:buChar char="Ø"/>
            </a:pPr>
            <a:r>
              <a:rPr lang="en-US" altLang="en-GB" sz="2000" dirty="0">
                <a:latin typeface="Times New Roman" panose="02020603050405020304" pitchFamily="18" charset="0"/>
                <a:cs typeface="Times New Roman" panose="02020603050405020304" pitchFamily="18" charset="0"/>
              </a:rPr>
              <a:t>The objective of the WeatherForecast program is to create a simple graphical user interface (GUI) application in Java that allows a user to input a city name and retrieve the current weather forecast for that city using the OpenWeatherMap API. The program then displays the weather details, including temperature, humidity, and general weather condition (e.g., clear, cloudy) in a text area.</a:t>
            </a:r>
            <a:endParaRPr lang="en-US" altLang="en-GB"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endParaRPr lang="en-US" altLang="en-GB"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US" altLang="en-GB" sz="2000" b="1" dirty="0">
                <a:latin typeface="Times New Roman" panose="02020603050405020304" pitchFamily="18" charset="0"/>
                <a:cs typeface="Times New Roman" panose="02020603050405020304" pitchFamily="18" charset="0"/>
              </a:rPr>
              <a:t>Key Features:</a:t>
            </a:r>
            <a:endParaRPr lang="en-US" altLang="en-GB"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US" altLang="en-GB" sz="2000" dirty="0">
                <a:latin typeface="Times New Roman" panose="02020603050405020304" pitchFamily="18" charset="0"/>
                <a:cs typeface="Times New Roman" panose="02020603050405020304" pitchFamily="18" charset="0"/>
              </a:rPr>
              <a:t>City Input: The program allows users to enter the name of the city whose weather they wish to check.</a:t>
            </a:r>
            <a:endParaRPr lang="en-US" altLang="en-GB"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US" altLang="en-GB" sz="2000" dirty="0">
                <a:latin typeface="Times New Roman" panose="02020603050405020304" pitchFamily="18" charset="0"/>
                <a:cs typeface="Times New Roman" panose="02020603050405020304" pitchFamily="18" charset="0"/>
              </a:rPr>
              <a:t>Weather Data Fetching: It sends an HTTP GET request to the OpenWeatherMap API and retrieves weather information in JSON format.</a:t>
            </a:r>
            <a:endParaRPr lang="en-US" altLang="en-GB" sz="2000" dirty="0">
              <a:latin typeface="Times New Roman" panose="02020603050405020304" pitchFamily="18" charset="0"/>
              <a:cs typeface="Times New Roman" panose="02020603050405020304" pitchFamily="18" charset="0"/>
            </a:endParaRPr>
          </a:p>
          <a:p>
            <a:pPr marL="0" indent="0" algn="just">
              <a:buFont typeface="Wingdings" panose="05000000000000000000" pitchFamily="2" charset="2"/>
              <a:buNone/>
            </a:pPr>
            <a:endParaRPr lang="en-US" altLang="en-GB"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pic>
        <p:nvPicPr>
          <p:cNvPr id="71" name="Google Shape;71;p15"/>
          <p:cNvPicPr preferRelativeResize="0"/>
          <p:nvPr/>
        </p:nvPicPr>
        <p:blipFill rotWithShape="1">
          <a:blip r:embed="rId1"/>
          <a:srcRect/>
          <a:stretch>
            <a:fillRect/>
          </a:stretch>
        </p:blipFill>
        <p:spPr>
          <a:xfrm>
            <a:off x="76200" y="76397"/>
            <a:ext cx="762558" cy="762395"/>
          </a:xfrm>
          <a:prstGeom prst="rect">
            <a:avLst/>
          </a:prstGeom>
          <a:noFill/>
          <a:ln>
            <a:noFill/>
          </a:ln>
        </p:spPr>
      </p:pic>
      <p:pic>
        <p:nvPicPr>
          <p:cNvPr id="72" name="Google Shape;72;p15"/>
          <p:cNvPicPr preferRelativeResize="0"/>
          <p:nvPr/>
        </p:nvPicPr>
        <p:blipFill rotWithShape="1">
          <a:blip r:embed="rId2"/>
          <a:srcRect/>
          <a:stretch>
            <a:fillRect/>
          </a:stretch>
        </p:blipFill>
        <p:spPr>
          <a:xfrm>
            <a:off x="8319029" y="76403"/>
            <a:ext cx="824970" cy="795591"/>
          </a:xfrm>
          <a:prstGeom prst="rect">
            <a:avLst/>
          </a:prstGeom>
          <a:noFill/>
          <a:ln>
            <a:noFill/>
          </a:ln>
        </p:spPr>
      </p:pic>
      <p:sp>
        <p:nvSpPr>
          <p:cNvPr id="73" name="Google Shape;73;p15"/>
          <p:cNvSpPr txBox="1"/>
          <p:nvPr/>
        </p:nvSpPr>
        <p:spPr>
          <a:xfrm>
            <a:off x="76200" y="241497"/>
            <a:ext cx="9067800" cy="554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GB" sz="2400" b="1" dirty="0">
                <a:solidFill>
                  <a:schemeClr val="tx1">
                    <a:lumMod val="85000"/>
                    <a:lumOff val="15000"/>
                  </a:schemeClr>
                </a:solidFill>
              </a:rPr>
              <a:t>PROJECT INTRODUCTION</a:t>
            </a:r>
            <a:endParaRPr sz="2400" b="1" dirty="0">
              <a:solidFill>
                <a:schemeClr val="tx1">
                  <a:lumMod val="85000"/>
                  <a:lumOff val="15000"/>
                </a:schemeClr>
              </a:solidFill>
              <a:latin typeface="Calibri" panose="020F0502020204030204"/>
              <a:ea typeface="Calibri" panose="020F0502020204030204"/>
              <a:cs typeface="Calibri" panose="020F0502020204030204"/>
              <a:sym typeface="Calibri" panose="020F0502020204030204"/>
            </a:endParaRPr>
          </a:p>
        </p:txBody>
      </p:sp>
      <p:sp>
        <p:nvSpPr>
          <p:cNvPr id="3" name="TextBox 2"/>
          <p:cNvSpPr txBox="1"/>
          <p:nvPr/>
        </p:nvSpPr>
        <p:spPr>
          <a:xfrm>
            <a:off x="495300" y="1037088"/>
            <a:ext cx="8267700" cy="3322955"/>
          </a:xfrm>
          <a:prstGeom prst="rect">
            <a:avLst/>
          </a:prstGeom>
          <a:noFill/>
        </p:spPr>
        <p:txBody>
          <a:bodyPr wrap="square" rtlCol="0">
            <a:spAutoFit/>
          </a:bodyPr>
          <a:lstStyle/>
          <a:p>
            <a:pPr marL="171450" lvl="8" indent="-171450" algn="just">
              <a:buFont typeface="Wingdings" panose="05000000000000000000" pitchFamily="2" charset="2"/>
              <a:buChar char="Ø"/>
            </a:pPr>
            <a:r>
              <a:rPr lang="en-US" altLang="en-GB" dirty="0">
                <a:latin typeface="Times New Roman" panose="02020603050405020304" pitchFamily="18" charset="0"/>
                <a:cs typeface="Times New Roman" panose="02020603050405020304" pitchFamily="18" charset="0"/>
              </a:rPr>
              <a:t>The Weather Forecasting System is a simple Java-based desktop application that allows users to retrieve and view the current weather forecast for a specific city. By leveraging the OpenWeatherMap API, the application fetches real-time weather data and displays key information such as temperature, humidity, and weather conditions in a graphical user interface (GUI).</a:t>
            </a:r>
            <a:endParaRPr lang="en-US" altLang="en-GB" dirty="0">
              <a:latin typeface="Times New Roman" panose="02020603050405020304" pitchFamily="18" charset="0"/>
              <a:cs typeface="Times New Roman" panose="02020603050405020304" pitchFamily="18" charset="0"/>
            </a:endParaRPr>
          </a:p>
          <a:p>
            <a:pPr marL="171450" lvl="8" indent="-171450" algn="just">
              <a:buFont typeface="Wingdings" panose="05000000000000000000" pitchFamily="2" charset="2"/>
              <a:buChar char="Ø"/>
            </a:pPr>
            <a:endParaRPr lang="en-US" altLang="en-GB" dirty="0">
              <a:latin typeface="Times New Roman" panose="02020603050405020304" pitchFamily="18" charset="0"/>
              <a:cs typeface="Times New Roman" panose="02020603050405020304" pitchFamily="18" charset="0"/>
            </a:endParaRPr>
          </a:p>
          <a:p>
            <a:pPr marL="171450" lvl="8" indent="-171450" algn="just">
              <a:buFont typeface="Wingdings" panose="05000000000000000000" pitchFamily="2" charset="2"/>
              <a:buChar char="Ø"/>
            </a:pPr>
            <a:r>
              <a:rPr lang="en-US" altLang="en-GB" b="1" dirty="0">
                <a:latin typeface="Times New Roman" panose="02020603050405020304" pitchFamily="18" charset="0"/>
                <a:cs typeface="Times New Roman" panose="02020603050405020304" pitchFamily="18" charset="0"/>
              </a:rPr>
              <a:t>Purpose:</a:t>
            </a:r>
            <a:endParaRPr lang="en-US" altLang="en-GB" dirty="0">
              <a:latin typeface="Times New Roman" panose="02020603050405020304" pitchFamily="18" charset="0"/>
              <a:cs typeface="Times New Roman" panose="02020603050405020304" pitchFamily="18" charset="0"/>
            </a:endParaRPr>
          </a:p>
          <a:p>
            <a:pPr marL="171450" lvl="8" indent="-171450" algn="just">
              <a:buFont typeface="Wingdings" panose="05000000000000000000" pitchFamily="2" charset="2"/>
              <a:buChar char="Ø"/>
            </a:pPr>
            <a:r>
              <a:rPr lang="en-US" altLang="en-GB" dirty="0">
                <a:latin typeface="Times New Roman" panose="02020603050405020304" pitchFamily="18" charset="0"/>
                <a:cs typeface="Times New Roman" panose="02020603050405020304" pitchFamily="18" charset="0"/>
              </a:rPr>
              <a:t>The main purpose of this project is to provide users with a quick and easy way to check the weather in any city around the world. The application is designed to be simple, intuitive, and responsive, allowing users to enter a city name and instantly receive weather details.</a:t>
            </a:r>
            <a:endParaRPr lang="en-US" altLang="en-GB" dirty="0">
              <a:latin typeface="Times New Roman" panose="02020603050405020304" pitchFamily="18" charset="0"/>
              <a:cs typeface="Times New Roman" panose="02020603050405020304" pitchFamily="18" charset="0"/>
            </a:endParaRPr>
          </a:p>
          <a:p>
            <a:pPr marL="171450" lvl="8" indent="-171450" algn="just">
              <a:buFont typeface="Wingdings" panose="05000000000000000000" pitchFamily="2" charset="2"/>
              <a:buChar char="Ø"/>
            </a:pPr>
            <a:endParaRPr lang="en-US" altLang="en-GB" dirty="0">
              <a:latin typeface="Times New Roman" panose="02020603050405020304" pitchFamily="18" charset="0"/>
              <a:cs typeface="Times New Roman" panose="02020603050405020304" pitchFamily="18" charset="0"/>
            </a:endParaRPr>
          </a:p>
          <a:p>
            <a:pPr marL="171450" lvl="8" indent="-171450" algn="just">
              <a:buFont typeface="Wingdings" panose="05000000000000000000" pitchFamily="2" charset="2"/>
              <a:buChar char="Ø"/>
            </a:pPr>
            <a:r>
              <a:rPr lang="en-US" altLang="en-GB" b="1" dirty="0">
                <a:latin typeface="Times New Roman" panose="02020603050405020304" pitchFamily="18" charset="0"/>
                <a:cs typeface="Times New Roman" panose="02020603050405020304" pitchFamily="18" charset="0"/>
              </a:rPr>
              <a:t>Objectives:</a:t>
            </a:r>
            <a:endParaRPr lang="en-US" altLang="en-GB" b="1" dirty="0">
              <a:latin typeface="Times New Roman" panose="02020603050405020304" pitchFamily="18" charset="0"/>
              <a:cs typeface="Times New Roman" panose="02020603050405020304" pitchFamily="18" charset="0"/>
            </a:endParaRPr>
          </a:p>
          <a:p>
            <a:pPr marL="171450" lvl="8" indent="-171450" algn="just">
              <a:buFont typeface="Wingdings" panose="05000000000000000000" pitchFamily="2" charset="2"/>
              <a:buChar char="Ø"/>
            </a:pPr>
            <a:r>
              <a:rPr lang="en-US" altLang="en-GB" dirty="0">
                <a:latin typeface="Times New Roman" panose="02020603050405020304" pitchFamily="18" charset="0"/>
                <a:cs typeface="Times New Roman" panose="02020603050405020304" pitchFamily="18" charset="0"/>
              </a:rPr>
              <a:t>Real-time Weather Information: The application fetches current weather data from the OpenWeatherMap API, providing accurate and up-to-date weather conditions.</a:t>
            </a:r>
            <a:endParaRPr lang="en-US" altLang="en-GB" dirty="0">
              <a:latin typeface="Times New Roman" panose="02020603050405020304" pitchFamily="18" charset="0"/>
              <a:cs typeface="Times New Roman" panose="02020603050405020304" pitchFamily="18" charset="0"/>
            </a:endParaRPr>
          </a:p>
          <a:p>
            <a:pPr marL="171450" lvl="8" indent="-171450" algn="just">
              <a:buFont typeface="Wingdings" panose="05000000000000000000" pitchFamily="2" charset="2"/>
              <a:buChar char="Ø"/>
            </a:pPr>
            <a:r>
              <a:rPr lang="en-US" altLang="en-GB" dirty="0">
                <a:latin typeface="Times New Roman" panose="02020603050405020304" pitchFamily="18" charset="0"/>
                <a:cs typeface="Times New Roman" panose="02020603050405020304" pitchFamily="18" charset="0"/>
              </a:rPr>
              <a:t>Graphical User Interface (GUI): The application is built using Java's AWT library to create a basic GUI. It allows users to enter a city name, click a button to fetch weather data, and view the results in a text area.</a:t>
            </a:r>
            <a:endParaRPr lang="en-US" altLang="en-GB"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311700" y="220717"/>
            <a:ext cx="8520600" cy="672662"/>
          </a:xfrm>
        </p:spPr>
        <p:txBody>
          <a:bodyPr>
            <a:normAutofit/>
          </a:bodyPr>
          <a:lstStyle/>
          <a:p>
            <a:r>
              <a:rPr lang="en-US" dirty="0"/>
              <a:t>		 </a:t>
            </a:r>
            <a:r>
              <a:rPr lang="en-US" b="1" dirty="0">
                <a:solidFill>
                  <a:schemeClr val="tx1">
                    <a:lumMod val="85000"/>
                    <a:lumOff val="15000"/>
                  </a:schemeClr>
                </a:solidFill>
              </a:rPr>
              <a:t>PROBLEM STATEMENT</a:t>
            </a:r>
            <a:endParaRPr lang="en-IN" b="1" dirty="0">
              <a:solidFill>
                <a:schemeClr val="tx1">
                  <a:lumMod val="85000"/>
                  <a:lumOff val="15000"/>
                </a:schemeClr>
              </a:solidFill>
            </a:endParaRPr>
          </a:p>
        </p:txBody>
      </p:sp>
      <p:sp>
        <p:nvSpPr>
          <p:cNvPr id="9" name="Text Placeholder 8"/>
          <p:cNvSpPr>
            <a:spLocks noGrp="1"/>
          </p:cNvSpPr>
          <p:nvPr>
            <p:ph type="body" idx="1"/>
          </p:nvPr>
        </p:nvSpPr>
        <p:spPr/>
        <p:txBody>
          <a:bodyPr>
            <a:normAutofit fontScale="90000" lnSpcReduction="10000"/>
          </a:bodyPr>
          <a:lstStyle/>
          <a:p>
            <a:pPr algn="just">
              <a:buFont typeface="Wingdings" panose="05000000000000000000" pitchFamily="2" charset="2"/>
              <a:buChar char="Ø"/>
            </a:pPr>
            <a:r>
              <a:rPr lang="en-US" altLang="en-GB">
                <a:latin typeface="Times New Roman" panose="02020603050405020304" pitchFamily="18" charset="0"/>
                <a:cs typeface="Times New Roman" panose="02020603050405020304" pitchFamily="18" charset="0"/>
              </a:rPr>
              <a:t>The Weather Forecasting System aims to address the challenge of providing users with real-time weather information for any city across the globe in an easy-to-use desktop application. Often, users need a quick way to check weather conditions, including temperature, humidity, and overall weather conditions (e.g., clear, cloudy, rainy), but may not have access to a reliable or intuitive platform. This system leverages the OpenWeatherMap API to fetch current weather data based on the city name entered by the user, ensuring the application provides up-to-date and accurate information. The problem this system solves is the need for a simple, accessible, and efficient way for individuals to obtain weather information without having to rely on more complex or cluttered applications. The solution offers a user-friendly graphical interface, where users can input a city name and instantly view key weather details, making it suitable for anyone with basic computing skills. Additionally, the system handles errors such as incorrect city names or connectivity issues, ensuring a smooth user experience.</a:t>
            </a:r>
            <a:endParaRPr lang="en-US" altLang="en-GB">
              <a:latin typeface="Times New Roman" panose="02020603050405020304" pitchFamily="18" charset="0"/>
              <a:cs typeface="Times New Roman" panose="02020603050405020304" pitchFamily="18" charset="0"/>
            </a:endParaRPr>
          </a:p>
        </p:txBody>
      </p:sp>
      <p:pic>
        <p:nvPicPr>
          <p:cNvPr id="4" name="Google Shape;71;p15"/>
          <p:cNvPicPr preferRelativeResize="0"/>
          <p:nvPr/>
        </p:nvPicPr>
        <p:blipFill rotWithShape="1">
          <a:blip r:embed="rId1"/>
          <a:srcRect/>
          <a:stretch>
            <a:fillRect/>
          </a:stretch>
        </p:blipFill>
        <p:spPr>
          <a:xfrm>
            <a:off x="0" y="0"/>
            <a:ext cx="762558" cy="762395"/>
          </a:xfrm>
          <a:prstGeom prst="rect">
            <a:avLst/>
          </a:prstGeom>
          <a:noFill/>
          <a:ln>
            <a:noFill/>
          </a:ln>
        </p:spPr>
      </p:pic>
      <p:pic>
        <p:nvPicPr>
          <p:cNvPr id="5" name="Google Shape;72;p15"/>
          <p:cNvPicPr preferRelativeResize="0"/>
          <p:nvPr/>
        </p:nvPicPr>
        <p:blipFill rotWithShape="1">
          <a:blip r:embed="rId2"/>
          <a:srcRect/>
          <a:stretch>
            <a:fillRect/>
          </a:stretch>
        </p:blipFill>
        <p:spPr>
          <a:xfrm>
            <a:off x="8319030" y="6"/>
            <a:ext cx="824970" cy="79559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3378" y="178676"/>
            <a:ext cx="7938921" cy="839049"/>
          </a:xfrm>
        </p:spPr>
        <p:txBody>
          <a:bodyPr>
            <a:normAutofit fontScale="90000"/>
          </a:bodyPr>
          <a:lstStyle/>
          <a:p>
            <a:r>
              <a:rPr lang="en-US" altLang="en-US" b="1" dirty="0">
                <a:solidFill>
                  <a:schemeClr val="tx1">
                    <a:lumMod val="85000"/>
                    <a:lumOff val="15000"/>
                  </a:schemeClr>
                </a:solidFill>
                <a:cs typeface="Arial" panose="020B0604020202020204" pitchFamily="34" charset="0"/>
              </a:rPr>
              <a:t>Methodologies (Programming concepts relevant to problem statement)</a:t>
            </a:r>
            <a:br>
              <a:rPr lang="en-US" altLang="en-US" b="1" dirty="0">
                <a:solidFill>
                  <a:srgbClr val="000000"/>
                </a:solidFill>
                <a:cs typeface="Arial" panose="020B0604020202020204" pitchFamily="34" charset="0"/>
              </a:rPr>
            </a:br>
            <a:endParaRPr lang="en-IN" dirty="0"/>
          </a:p>
        </p:txBody>
      </p:sp>
      <p:pic>
        <p:nvPicPr>
          <p:cNvPr id="4" name="Google Shape;72;p15"/>
          <p:cNvPicPr preferRelativeResize="0"/>
          <p:nvPr/>
        </p:nvPicPr>
        <p:blipFill rotWithShape="1">
          <a:blip r:embed="rId1"/>
          <a:srcRect/>
          <a:stretch>
            <a:fillRect/>
          </a:stretch>
        </p:blipFill>
        <p:spPr>
          <a:xfrm>
            <a:off x="8319030" y="6"/>
            <a:ext cx="824970" cy="795591"/>
          </a:xfrm>
          <a:prstGeom prst="rect">
            <a:avLst/>
          </a:prstGeom>
          <a:noFill/>
          <a:ln>
            <a:noFill/>
          </a:ln>
        </p:spPr>
      </p:pic>
      <p:pic>
        <p:nvPicPr>
          <p:cNvPr id="5" name="Google Shape;71;p15"/>
          <p:cNvPicPr preferRelativeResize="0"/>
          <p:nvPr/>
        </p:nvPicPr>
        <p:blipFill rotWithShape="1">
          <a:blip r:embed="rId2"/>
          <a:srcRect/>
          <a:stretch>
            <a:fillRect/>
          </a:stretch>
        </p:blipFill>
        <p:spPr>
          <a:xfrm>
            <a:off x="0" y="0"/>
            <a:ext cx="762558" cy="762395"/>
          </a:xfrm>
          <a:prstGeom prst="rect">
            <a:avLst/>
          </a:prstGeom>
          <a:noFill/>
          <a:ln>
            <a:noFill/>
          </a:ln>
        </p:spPr>
      </p:pic>
      <p:sp>
        <p:nvSpPr>
          <p:cNvPr id="12" name="Rectangle 7"/>
          <p:cNvSpPr>
            <a:spLocks noGrp="1" noChangeArrowheads="1"/>
          </p:cNvSpPr>
          <p:nvPr>
            <p:ph type="body" idx="1"/>
          </p:nvPr>
        </p:nvSpPr>
        <p:spPr bwMode="auto">
          <a:xfrm>
            <a:off x="518795" y="1123315"/>
            <a:ext cx="8243570" cy="3676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noAutofit/>
          </a:bodyPr>
          <a:lstStyle/>
          <a:p>
            <a:pPr marL="0" marR="0" lvl="0" indent="0" algn="just" defTabSz="914400" rtl="0" eaLnBrk="0" fontAlgn="base" latinLnBrk="0" hangingPunct="0">
              <a:lnSpc>
                <a:spcPct val="100000"/>
              </a:lnSpc>
              <a:spcBef>
                <a:spcPct val="0"/>
              </a:spcBef>
              <a:spcAft>
                <a:spcPct val="0"/>
              </a:spcAft>
              <a:buClrTx/>
              <a:buSzTx/>
              <a:buFontTx/>
              <a:buChar char="•"/>
            </a:pPr>
            <a:r>
              <a:rPr lang="en-US" altLang="en-GB" sz="2000">
                <a:latin typeface="Times New Roman" panose="02020603050405020304" pitchFamily="18" charset="0"/>
                <a:cs typeface="Times New Roman" panose="02020603050405020304" pitchFamily="18" charset="0"/>
              </a:rPr>
              <a:t>The Weather Forecasting System utilizes key object-oriented programming principles such as inheritance, polymorphism, encapsulation, and event-driven programming to manage weather-related data, handle user input, and display results through a graphical user interface. The use of inheritance allows for easy window management through the Frame class, while polymorphism enhances the interaction between the user and the application. Encapsulation helps organize the system's data and methods in a single class, ensuring cleaner and more maintainable code. Through these methodologies, the system achieves a simple yet effective solution for fetching and displaying weather data in a user-friendly interface.</a:t>
            </a:r>
            <a:endParaRPr lang="en-US" altLang="en-GB" sz="200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pic>
        <p:nvPicPr>
          <p:cNvPr id="78" name="Google Shape;78;p16"/>
          <p:cNvPicPr preferRelativeResize="0"/>
          <p:nvPr/>
        </p:nvPicPr>
        <p:blipFill rotWithShape="1">
          <a:blip r:embed="rId1"/>
          <a:srcRect/>
          <a:stretch>
            <a:fillRect/>
          </a:stretch>
        </p:blipFill>
        <p:spPr>
          <a:xfrm>
            <a:off x="172386" y="120747"/>
            <a:ext cx="762558" cy="762395"/>
          </a:xfrm>
          <a:prstGeom prst="rect">
            <a:avLst/>
          </a:prstGeom>
          <a:noFill/>
          <a:ln>
            <a:noFill/>
          </a:ln>
        </p:spPr>
      </p:pic>
      <p:pic>
        <p:nvPicPr>
          <p:cNvPr id="79" name="Google Shape;79;p16"/>
          <p:cNvPicPr preferRelativeResize="0"/>
          <p:nvPr/>
        </p:nvPicPr>
        <p:blipFill rotWithShape="1">
          <a:blip r:embed="rId2"/>
          <a:srcRect/>
          <a:stretch>
            <a:fillRect/>
          </a:stretch>
        </p:blipFill>
        <p:spPr>
          <a:xfrm>
            <a:off x="8177850" y="165491"/>
            <a:ext cx="824970" cy="795591"/>
          </a:xfrm>
          <a:prstGeom prst="rect">
            <a:avLst/>
          </a:prstGeom>
          <a:noFill/>
          <a:ln>
            <a:noFill/>
          </a:ln>
        </p:spPr>
      </p:pic>
      <p:sp>
        <p:nvSpPr>
          <p:cNvPr id="80" name="Google Shape;80;p16"/>
          <p:cNvSpPr txBox="1"/>
          <p:nvPr/>
        </p:nvSpPr>
        <p:spPr>
          <a:xfrm>
            <a:off x="-166969" y="276489"/>
            <a:ext cx="9067800" cy="554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GB" sz="2400" b="1" dirty="0">
                <a:solidFill>
                  <a:schemeClr val="tx1">
                    <a:lumMod val="85000"/>
                    <a:lumOff val="15000"/>
                  </a:schemeClr>
                </a:solidFill>
              </a:rPr>
              <a:t>FLOW DIAGRAM</a:t>
            </a:r>
            <a:endParaRPr sz="2400">
              <a:solidFill>
                <a:schemeClr val="tx1">
                  <a:lumMod val="85000"/>
                  <a:lumOff val="15000"/>
                </a:schemeClr>
              </a:solidFill>
              <a:latin typeface="Calibri" panose="020F0502020204030204"/>
              <a:ea typeface="Calibri" panose="020F0502020204030204"/>
              <a:cs typeface="Calibri" panose="020F0502020204030204"/>
              <a:sym typeface="Calibri" panose="020F0502020204030204"/>
            </a:endParaRPr>
          </a:p>
        </p:txBody>
      </p:sp>
      <p:sp>
        <p:nvSpPr>
          <p:cNvPr id="19" name="TextBox 18"/>
          <p:cNvSpPr txBox="1"/>
          <p:nvPr/>
        </p:nvSpPr>
        <p:spPr>
          <a:xfrm>
            <a:off x="326184" y="3038211"/>
            <a:ext cx="1828800" cy="1828800"/>
          </a:xfrm>
          <a:prstGeom prst="rect">
            <a:avLst/>
          </a:prstGeom>
          <a:noFill/>
        </p:spPr>
        <p:txBody>
          <a:bodyPr wrap="square" rtlCol="0">
            <a:spAutoFit/>
          </a:bodyPr>
          <a:lstStyle/>
          <a:p>
            <a:pPr algn="l"/>
            <a:endParaRPr lang="en-US" dirty="0"/>
          </a:p>
        </p:txBody>
      </p:sp>
      <p:pic>
        <p:nvPicPr>
          <p:cNvPr id="4" name="Content Placeholder 3"/>
          <p:cNvPicPr>
            <a:picLocks noChangeAspect="1"/>
          </p:cNvPicPr>
          <p:nvPr>
            <p:ph sz="quarter" idx="1"/>
          </p:nvPr>
        </p:nvPicPr>
        <p:blipFill>
          <a:blip r:embed="rId3"/>
          <a:stretch>
            <a:fillRect/>
          </a:stretch>
        </p:blipFill>
        <p:spPr>
          <a:xfrm>
            <a:off x="1158875" y="961390"/>
            <a:ext cx="6518275" cy="390842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pic>
        <p:nvPicPr>
          <p:cNvPr id="85" name="Google Shape;85;p17"/>
          <p:cNvPicPr preferRelativeResize="0"/>
          <p:nvPr/>
        </p:nvPicPr>
        <p:blipFill rotWithShape="1">
          <a:blip r:embed="rId1"/>
          <a:srcRect/>
          <a:stretch>
            <a:fillRect/>
          </a:stretch>
        </p:blipFill>
        <p:spPr>
          <a:xfrm>
            <a:off x="38100" y="91593"/>
            <a:ext cx="762558" cy="762395"/>
          </a:xfrm>
          <a:prstGeom prst="rect">
            <a:avLst/>
          </a:prstGeom>
          <a:noFill/>
          <a:ln>
            <a:noFill/>
          </a:ln>
        </p:spPr>
      </p:pic>
      <p:pic>
        <p:nvPicPr>
          <p:cNvPr id="86" name="Google Shape;86;p17"/>
          <p:cNvPicPr preferRelativeResize="0"/>
          <p:nvPr/>
        </p:nvPicPr>
        <p:blipFill rotWithShape="1">
          <a:blip r:embed="rId2"/>
          <a:srcRect/>
          <a:stretch>
            <a:fillRect/>
          </a:stretch>
        </p:blipFill>
        <p:spPr>
          <a:xfrm>
            <a:off x="8280930" y="74996"/>
            <a:ext cx="824970" cy="795591"/>
          </a:xfrm>
          <a:prstGeom prst="rect">
            <a:avLst/>
          </a:prstGeom>
          <a:noFill/>
          <a:ln>
            <a:noFill/>
          </a:ln>
        </p:spPr>
      </p:pic>
      <p:sp>
        <p:nvSpPr>
          <p:cNvPr id="87" name="Google Shape;87;p17"/>
          <p:cNvSpPr txBox="1"/>
          <p:nvPr/>
        </p:nvSpPr>
        <p:spPr>
          <a:xfrm>
            <a:off x="0" y="179499"/>
            <a:ext cx="9105900" cy="553968"/>
          </a:xfrm>
          <a:prstGeom prst="rect">
            <a:avLst/>
          </a:prstGeom>
          <a:noFill/>
          <a:ln>
            <a:noFill/>
          </a:ln>
        </p:spPr>
        <p:txBody>
          <a:bodyPr spcFirstLastPara="1" wrap="square" lIns="91425" tIns="91425" rIns="91425" bIns="91425" anchor="t" anchorCtr="0">
            <a:spAutoFit/>
          </a:bodyPr>
          <a:lstStyle/>
          <a:p>
            <a:pPr algn="ctr">
              <a:buSzPts val="2400"/>
            </a:pPr>
            <a:r>
              <a:rPr lang="en-GB" sz="2400" b="1" dirty="0">
                <a:solidFill>
                  <a:schemeClr val="tx1">
                    <a:lumMod val="85000"/>
                    <a:lumOff val="15000"/>
                  </a:schemeClr>
                </a:solidFill>
              </a:rPr>
              <a:t>MODULE DESCRIPTION</a:t>
            </a:r>
            <a:endParaRPr lang="en-GB" sz="2400" b="1" dirty="0">
              <a:solidFill>
                <a:schemeClr val="tx1">
                  <a:lumMod val="85000"/>
                  <a:lumOff val="15000"/>
                </a:schemeClr>
              </a:solidFill>
            </a:endParaRPr>
          </a:p>
        </p:txBody>
      </p:sp>
      <p:sp>
        <p:nvSpPr>
          <p:cNvPr id="2" name="TextBox 1"/>
          <p:cNvSpPr txBox="1"/>
          <p:nvPr/>
        </p:nvSpPr>
        <p:spPr>
          <a:xfrm>
            <a:off x="608330" y="1015365"/>
            <a:ext cx="7787640" cy="3607435"/>
          </a:xfrm>
          <a:prstGeom prst="rect">
            <a:avLst/>
          </a:prstGeom>
          <a:noFill/>
        </p:spPr>
        <p:txBody>
          <a:bodyPr wrap="square" rtlCol="0">
            <a:noAutofit/>
          </a:bodyPr>
          <a:lstStyle/>
          <a:p>
            <a:pPr marL="0" indent="0" algn="just">
              <a:buNone/>
            </a:pPr>
            <a:r>
              <a:rPr lang="en-GB" altLang="en-IN" sz="2000" dirty="0">
                <a:latin typeface="Times New Roman" panose="02020603050405020304" pitchFamily="18" charset="0"/>
                <a:cs typeface="Times New Roman" panose="02020603050405020304" pitchFamily="18" charset="0"/>
              </a:rPr>
              <a:t>1.</a:t>
            </a:r>
            <a:r>
              <a:rPr lang="en-IN" sz="2000" b="1" dirty="0">
                <a:latin typeface="Times New Roman" panose="02020603050405020304" pitchFamily="18" charset="0"/>
                <a:cs typeface="Times New Roman" panose="02020603050405020304" pitchFamily="18" charset="0"/>
              </a:rPr>
              <a:t> </a:t>
            </a:r>
            <a:r>
              <a:rPr sz="2000" spc="45" dirty="0">
                <a:solidFill>
                  <a:srgbClr val="717BA2"/>
                </a:solidFill>
                <a:latin typeface="Times New Roman" panose="02020603050405020304" pitchFamily="18" charset="0"/>
                <a:cs typeface="Times New Roman" panose="02020603050405020304" pitchFamily="18" charset="0"/>
                <a:sym typeface="+mn-ea"/>
              </a:rPr>
              <a:t> </a:t>
            </a:r>
            <a:r>
              <a:rPr lang="en-US" altLang="en-GB" sz="2000" b="1">
                <a:latin typeface="Times New Roman" panose="02020603050405020304" pitchFamily="18" charset="0"/>
                <a:cs typeface="Times New Roman" panose="02020603050405020304" pitchFamily="18" charset="0"/>
                <a:sym typeface="+mn-ea"/>
              </a:rPr>
              <a:t>User Interface:</a:t>
            </a:r>
            <a:endParaRPr lang="en-US" altLang="en-GB" sz="2000" b="1">
              <a:latin typeface="Times New Roman" panose="02020603050405020304" pitchFamily="18" charset="0"/>
              <a:cs typeface="Times New Roman" panose="02020603050405020304" pitchFamily="18" charset="0"/>
            </a:endParaRPr>
          </a:p>
          <a:p>
            <a:pPr algn="just"/>
            <a:r>
              <a:rPr lang="en-US" altLang="en-GB" sz="2000">
                <a:latin typeface="Times New Roman" panose="02020603050405020304" pitchFamily="18" charset="0"/>
                <a:cs typeface="Times New Roman" panose="02020603050405020304" pitchFamily="18" charset="0"/>
                <a:sym typeface="+mn-ea"/>
              </a:rPr>
              <a:t>The GUI is created using AWT components such as Frame, Label, TextField, Button, and TextArea.</a:t>
            </a:r>
            <a:endParaRPr lang="en-US" altLang="en-GB" sz="2000">
              <a:latin typeface="Times New Roman" panose="02020603050405020304" pitchFamily="18" charset="0"/>
              <a:cs typeface="Times New Roman" panose="02020603050405020304" pitchFamily="18" charset="0"/>
            </a:endParaRPr>
          </a:p>
          <a:p>
            <a:pPr algn="just"/>
            <a:r>
              <a:rPr lang="en-US" altLang="en-GB" sz="2000">
                <a:latin typeface="Times New Roman" panose="02020603050405020304" pitchFamily="18" charset="0"/>
                <a:cs typeface="Times New Roman" panose="02020603050405020304" pitchFamily="18" charset="0"/>
                <a:sym typeface="+mn-ea"/>
              </a:rPr>
              <a:t>The user enters the name of the city in the TextField.</a:t>
            </a:r>
            <a:endParaRPr lang="en-US" altLang="en-GB" sz="2000">
              <a:latin typeface="Times New Roman" panose="02020603050405020304" pitchFamily="18" charset="0"/>
              <a:cs typeface="Times New Roman" panose="02020603050405020304" pitchFamily="18" charset="0"/>
            </a:endParaRPr>
          </a:p>
          <a:p>
            <a:pPr algn="just"/>
            <a:r>
              <a:rPr lang="en-US" altLang="en-GB" sz="2000">
                <a:latin typeface="Times New Roman" panose="02020603050405020304" pitchFamily="18" charset="0"/>
                <a:cs typeface="Times New Roman" panose="02020603050405020304" pitchFamily="18" charset="0"/>
                <a:sym typeface="+mn-ea"/>
              </a:rPr>
              <a:t>When the user clicks the Get Forecast button, the application fetches the weather data for that city.</a:t>
            </a:r>
            <a:endParaRPr lang="en-US" altLang="en-GB" sz="2000">
              <a:latin typeface="Times New Roman" panose="02020603050405020304" pitchFamily="18" charset="0"/>
              <a:cs typeface="Times New Roman" panose="02020603050405020304" pitchFamily="18" charset="0"/>
              <a:sym typeface="+mn-ea"/>
            </a:endParaRPr>
          </a:p>
          <a:p>
            <a:pPr algn="just"/>
            <a:endParaRPr lang="en-US" altLang="en-GB" sz="2000">
              <a:latin typeface="Times New Roman" panose="02020603050405020304" pitchFamily="18" charset="0"/>
              <a:cs typeface="Times New Roman" panose="02020603050405020304" pitchFamily="18" charset="0"/>
            </a:endParaRPr>
          </a:p>
          <a:p>
            <a:pPr marL="0" indent="0" algn="just">
              <a:buNone/>
            </a:pPr>
            <a:r>
              <a:rPr lang="en-GB" altLang="en-IN" sz="2000" b="1">
                <a:latin typeface="Times New Roman" panose="02020603050405020304" pitchFamily="18" charset="0"/>
                <a:cs typeface="Times New Roman" panose="02020603050405020304" pitchFamily="18" charset="0"/>
                <a:sym typeface="+mn-ea"/>
              </a:rPr>
              <a:t>2</a:t>
            </a:r>
            <a:r>
              <a:rPr lang="en-IN" altLang="en-US" sz="2000" b="1">
                <a:latin typeface="Times New Roman" panose="02020603050405020304" pitchFamily="18" charset="0"/>
                <a:cs typeface="Times New Roman" panose="02020603050405020304" pitchFamily="18" charset="0"/>
                <a:sym typeface="+mn-ea"/>
              </a:rPr>
              <a:t>.</a:t>
            </a:r>
            <a:r>
              <a:rPr lang="en-US" altLang="en-GB" sz="2000" b="1">
                <a:latin typeface="Times New Roman" panose="02020603050405020304" pitchFamily="18" charset="0"/>
                <a:cs typeface="Times New Roman" panose="02020603050405020304" pitchFamily="18" charset="0"/>
                <a:sym typeface="+mn-ea"/>
              </a:rPr>
              <a:t>Weather Data Fetching:</a:t>
            </a:r>
            <a:endParaRPr lang="en-US" altLang="en-GB" sz="2000">
              <a:latin typeface="Times New Roman" panose="02020603050405020304" pitchFamily="18" charset="0"/>
              <a:cs typeface="Times New Roman" panose="02020603050405020304" pitchFamily="18" charset="0"/>
            </a:endParaRPr>
          </a:p>
          <a:p>
            <a:pPr algn="just"/>
            <a:r>
              <a:rPr lang="en-US" altLang="en-GB" sz="2000">
                <a:latin typeface="Times New Roman" panose="02020603050405020304" pitchFamily="18" charset="0"/>
                <a:cs typeface="Times New Roman" panose="02020603050405020304" pitchFamily="18" charset="0"/>
                <a:sym typeface="+mn-ea"/>
              </a:rPr>
              <a:t>The program sends a GET request to the OpenWeatherMap API with the entered city and the API key (replace with your own API key).</a:t>
            </a:r>
            <a:endParaRPr lang="en-US" altLang="en-GB" sz="2000">
              <a:latin typeface="Times New Roman" panose="02020603050405020304" pitchFamily="18" charset="0"/>
              <a:cs typeface="Times New Roman" panose="02020603050405020304" pitchFamily="18" charset="0"/>
            </a:endParaRPr>
          </a:p>
          <a:p>
            <a:pPr algn="just"/>
            <a:r>
              <a:rPr lang="en-US" altLang="en-GB" sz="2000">
                <a:latin typeface="Times New Roman" panose="02020603050405020304" pitchFamily="18" charset="0"/>
                <a:cs typeface="Times New Roman" panose="02020603050405020304" pitchFamily="18" charset="0"/>
                <a:sym typeface="+mn-ea"/>
              </a:rPr>
              <a:t>The fetchWeatherData method sends the HTTP request, retrieves the response, and returns the response body if the request is successful (response code 200).</a:t>
            </a:r>
            <a:endParaRPr lang="en-US" altLang="en-GB" sz="2000">
              <a:latin typeface="Times New Roman" panose="02020603050405020304" pitchFamily="18" charset="0"/>
              <a:cs typeface="Times New Roman" panose="02020603050405020304" pitchFamily="18" charset="0"/>
              <a:sym typeface="+mn-ea"/>
            </a:endParaRPr>
          </a:p>
          <a:p>
            <a:pPr algn="just"/>
            <a:endParaRPr lang="en-US" altLang="en-GB">
              <a:latin typeface="Times New Roman" panose="02020603050405020304" pitchFamily="18" charset="0"/>
              <a:cs typeface="Times New Roman" panose="02020603050405020304" pitchFamily="18" charset="0"/>
            </a:endParaRPr>
          </a:p>
          <a:p>
            <a:pPr marL="0" indent="0" algn="just">
              <a:buNone/>
            </a:pPr>
            <a:endParaRPr lang="en-IN"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pic>
        <p:nvPicPr>
          <p:cNvPr id="85" name="Google Shape;85;p17"/>
          <p:cNvPicPr preferRelativeResize="0"/>
          <p:nvPr/>
        </p:nvPicPr>
        <p:blipFill rotWithShape="1">
          <a:blip r:embed="rId1"/>
          <a:srcRect/>
          <a:stretch>
            <a:fillRect/>
          </a:stretch>
        </p:blipFill>
        <p:spPr>
          <a:xfrm>
            <a:off x="38100" y="91593"/>
            <a:ext cx="762558" cy="762395"/>
          </a:xfrm>
          <a:prstGeom prst="rect">
            <a:avLst/>
          </a:prstGeom>
          <a:noFill/>
          <a:ln>
            <a:noFill/>
          </a:ln>
        </p:spPr>
      </p:pic>
      <p:pic>
        <p:nvPicPr>
          <p:cNvPr id="86" name="Google Shape;86;p17"/>
          <p:cNvPicPr preferRelativeResize="0"/>
          <p:nvPr/>
        </p:nvPicPr>
        <p:blipFill rotWithShape="1">
          <a:blip r:embed="rId2"/>
          <a:srcRect/>
          <a:stretch>
            <a:fillRect/>
          </a:stretch>
        </p:blipFill>
        <p:spPr>
          <a:xfrm>
            <a:off x="8280930" y="74996"/>
            <a:ext cx="824970" cy="795591"/>
          </a:xfrm>
          <a:prstGeom prst="rect">
            <a:avLst/>
          </a:prstGeom>
          <a:noFill/>
          <a:ln>
            <a:noFill/>
          </a:ln>
        </p:spPr>
      </p:pic>
      <p:sp>
        <p:nvSpPr>
          <p:cNvPr id="87" name="Google Shape;87;p17"/>
          <p:cNvSpPr txBox="1"/>
          <p:nvPr/>
        </p:nvSpPr>
        <p:spPr>
          <a:xfrm>
            <a:off x="0" y="179499"/>
            <a:ext cx="9105900" cy="553968"/>
          </a:xfrm>
          <a:prstGeom prst="rect">
            <a:avLst/>
          </a:prstGeom>
          <a:noFill/>
          <a:ln>
            <a:noFill/>
          </a:ln>
        </p:spPr>
        <p:txBody>
          <a:bodyPr spcFirstLastPara="1" wrap="square" lIns="91425" tIns="91425" rIns="91425" bIns="91425" anchor="t" anchorCtr="0">
            <a:spAutoFit/>
          </a:bodyPr>
          <a:lstStyle/>
          <a:p>
            <a:pPr algn="ctr">
              <a:buSzPts val="2400"/>
            </a:pPr>
            <a:r>
              <a:rPr lang="en-GB" sz="2400" b="1" dirty="0">
                <a:solidFill>
                  <a:schemeClr val="tx1">
                    <a:lumMod val="85000"/>
                    <a:lumOff val="15000"/>
                  </a:schemeClr>
                </a:solidFill>
              </a:rPr>
              <a:t>MODULE DESCRIPTION</a:t>
            </a:r>
            <a:endParaRPr lang="en-GB" sz="2400" b="1" dirty="0">
              <a:solidFill>
                <a:schemeClr val="tx1">
                  <a:lumMod val="85000"/>
                  <a:lumOff val="15000"/>
                </a:schemeClr>
              </a:solidFill>
            </a:endParaRPr>
          </a:p>
        </p:txBody>
      </p:sp>
      <p:sp>
        <p:nvSpPr>
          <p:cNvPr id="2" name="TextBox 1"/>
          <p:cNvSpPr txBox="1"/>
          <p:nvPr/>
        </p:nvSpPr>
        <p:spPr>
          <a:xfrm>
            <a:off x="800658" y="1190667"/>
            <a:ext cx="7918067" cy="3476625"/>
          </a:xfrm>
          <a:prstGeom prst="rect">
            <a:avLst/>
          </a:prstGeom>
          <a:noFill/>
        </p:spPr>
        <p:txBody>
          <a:bodyPr wrap="square" rtlCol="0">
            <a:spAutoFit/>
          </a:bodyPr>
          <a:lstStyle/>
          <a:p>
            <a:pPr marL="0" indent="0" algn="just">
              <a:buNone/>
            </a:pPr>
            <a:r>
              <a:rPr lang="en-IN" altLang="en-US" sz="2000" b="1">
                <a:latin typeface="Times New Roman" panose="02020603050405020304" pitchFamily="18" charset="0"/>
                <a:cs typeface="Times New Roman" panose="02020603050405020304" pitchFamily="18" charset="0"/>
                <a:sym typeface="+mn-ea"/>
              </a:rPr>
              <a:t>3.</a:t>
            </a:r>
            <a:r>
              <a:rPr lang="en-US" altLang="en-GB" sz="2000" b="1">
                <a:latin typeface="Times New Roman" panose="02020603050405020304" pitchFamily="18" charset="0"/>
                <a:cs typeface="Times New Roman" panose="02020603050405020304" pitchFamily="18" charset="0"/>
                <a:sym typeface="+mn-ea"/>
              </a:rPr>
              <a:t>Parsing the Weather Data:</a:t>
            </a:r>
            <a:endParaRPr lang="en-US" altLang="en-GB" sz="2000" b="1">
              <a:latin typeface="Times New Roman" panose="02020603050405020304" pitchFamily="18" charset="0"/>
              <a:cs typeface="Times New Roman" panose="02020603050405020304" pitchFamily="18" charset="0"/>
            </a:endParaRPr>
          </a:p>
          <a:p>
            <a:pPr algn="just"/>
            <a:r>
              <a:rPr lang="en-US" altLang="en-GB" sz="2000">
                <a:latin typeface="Times New Roman" panose="02020603050405020304" pitchFamily="18" charset="0"/>
                <a:cs typeface="Times New Roman" panose="02020603050405020304" pitchFamily="18" charset="0"/>
                <a:sym typeface="+mn-ea"/>
              </a:rPr>
              <a:t>The response from the API is in JSON format. The code extracts temperature, humidity, and weather conditions by finding the relevant indices and substring values.</a:t>
            </a:r>
            <a:endParaRPr lang="en-US" altLang="en-GB" sz="2000">
              <a:latin typeface="Times New Roman" panose="02020603050405020304" pitchFamily="18" charset="0"/>
              <a:cs typeface="Times New Roman" panose="02020603050405020304" pitchFamily="18" charset="0"/>
            </a:endParaRPr>
          </a:p>
          <a:p>
            <a:pPr algn="just"/>
            <a:r>
              <a:rPr lang="en-US" altLang="en-GB" sz="2000">
                <a:latin typeface="Times New Roman" panose="02020603050405020304" pitchFamily="18" charset="0"/>
                <a:cs typeface="Times New Roman" panose="02020603050405020304" pitchFamily="18" charset="0"/>
                <a:sym typeface="+mn-ea"/>
              </a:rPr>
              <a:t>This data is displayed in the TextArea with a simple message about the weather, including the temperature, humidity, and condition.</a:t>
            </a:r>
            <a:endParaRPr lang="en-US" altLang="en-GB" sz="2000">
              <a:latin typeface="Times New Roman" panose="02020603050405020304" pitchFamily="18" charset="0"/>
              <a:cs typeface="Times New Roman" panose="02020603050405020304" pitchFamily="18" charset="0"/>
              <a:sym typeface="+mn-ea"/>
            </a:endParaRPr>
          </a:p>
          <a:p>
            <a:pPr algn="just"/>
            <a:endParaRPr lang="en-US" altLang="en-GB" sz="2000">
              <a:latin typeface="Times New Roman" panose="02020603050405020304" pitchFamily="18" charset="0"/>
              <a:cs typeface="Times New Roman" panose="02020603050405020304" pitchFamily="18" charset="0"/>
            </a:endParaRPr>
          </a:p>
          <a:p>
            <a:pPr marL="0" indent="0" algn="just">
              <a:buNone/>
            </a:pPr>
            <a:r>
              <a:rPr lang="en-IN" altLang="en-US" sz="2000" b="1">
                <a:latin typeface="Times New Roman" panose="02020603050405020304" pitchFamily="18" charset="0"/>
                <a:cs typeface="Times New Roman" panose="02020603050405020304" pitchFamily="18" charset="0"/>
                <a:sym typeface="+mn-ea"/>
              </a:rPr>
              <a:t>4.</a:t>
            </a:r>
            <a:r>
              <a:rPr lang="en-US" altLang="en-GB" sz="2000" b="1">
                <a:latin typeface="Times New Roman" panose="02020603050405020304" pitchFamily="18" charset="0"/>
                <a:cs typeface="Times New Roman" panose="02020603050405020304" pitchFamily="18" charset="0"/>
                <a:sym typeface="+mn-ea"/>
              </a:rPr>
              <a:t>Handling Errors:</a:t>
            </a:r>
            <a:endParaRPr lang="en-US" altLang="en-GB" sz="2000" b="1">
              <a:latin typeface="Times New Roman" panose="02020603050405020304" pitchFamily="18" charset="0"/>
              <a:cs typeface="Times New Roman" panose="02020603050405020304" pitchFamily="18" charset="0"/>
            </a:endParaRPr>
          </a:p>
          <a:p>
            <a:pPr algn="just"/>
            <a:r>
              <a:rPr lang="en-US" altLang="en-GB" sz="2000">
                <a:latin typeface="Times New Roman" panose="02020603050405020304" pitchFamily="18" charset="0"/>
                <a:cs typeface="Times New Roman" panose="02020603050405020304" pitchFamily="18" charset="0"/>
                <a:sym typeface="+mn-ea"/>
              </a:rPr>
              <a:t>If the user doesn't enter a city or if an error occurs while fetching the data, an appropriate error message is shown in the TextArea.</a:t>
            </a:r>
            <a:endParaRPr lang="en-IN" sz="2000" dirty="0">
              <a:latin typeface="Times New Roman" panose="02020603050405020304" pitchFamily="18" charset="0"/>
              <a:cs typeface="Times New Roman" panose="02020603050405020304" pitchFamily="18" charset="0"/>
            </a:endParaRPr>
          </a:p>
          <a:p>
            <a:pPr marL="0" indent="0" algn="just">
              <a:buNone/>
            </a:pPr>
            <a:endParaRPr lang="en-IN"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6412" y="286719"/>
            <a:ext cx="8520600" cy="572700"/>
          </a:xfrm>
        </p:spPr>
        <p:txBody>
          <a:bodyPr>
            <a:normAutofit fontScale="90000"/>
          </a:bodyPr>
          <a:lstStyle/>
          <a:p>
            <a:pPr algn="ctr"/>
            <a:r>
              <a:rPr lang="en-US" b="1" dirty="0"/>
              <a:t>MERITS</a:t>
            </a:r>
            <a:br>
              <a:rPr lang="en-US" b="1" dirty="0"/>
            </a:br>
            <a:endParaRPr lang="en-US" dirty="0"/>
          </a:p>
        </p:txBody>
      </p:sp>
      <p:pic>
        <p:nvPicPr>
          <p:cNvPr id="4" name="Google Shape;85;p17"/>
          <p:cNvPicPr preferRelativeResize="0"/>
          <p:nvPr/>
        </p:nvPicPr>
        <p:blipFill rotWithShape="1">
          <a:blip r:embed="rId1"/>
          <a:srcRect/>
          <a:stretch>
            <a:fillRect/>
          </a:stretch>
        </p:blipFill>
        <p:spPr>
          <a:xfrm>
            <a:off x="104503" y="171736"/>
            <a:ext cx="762558" cy="762395"/>
          </a:xfrm>
          <a:prstGeom prst="rect">
            <a:avLst/>
          </a:prstGeom>
          <a:noFill/>
          <a:ln>
            <a:noFill/>
          </a:ln>
        </p:spPr>
      </p:pic>
      <p:pic>
        <p:nvPicPr>
          <p:cNvPr id="5" name="Google Shape;86;p17"/>
          <p:cNvPicPr preferRelativeResize="0"/>
          <p:nvPr/>
        </p:nvPicPr>
        <p:blipFill rotWithShape="1">
          <a:blip r:embed="rId2"/>
          <a:srcRect/>
          <a:stretch>
            <a:fillRect/>
          </a:stretch>
        </p:blipFill>
        <p:spPr>
          <a:xfrm>
            <a:off x="8214527" y="171736"/>
            <a:ext cx="824970" cy="795591"/>
          </a:xfrm>
          <a:prstGeom prst="rect">
            <a:avLst/>
          </a:prstGeom>
          <a:noFill/>
          <a:ln>
            <a:noFill/>
          </a:ln>
        </p:spPr>
      </p:pic>
      <p:sp>
        <p:nvSpPr>
          <p:cNvPr id="3" name="Rectangle 1"/>
          <p:cNvSpPr>
            <a:spLocks noGrp="1" noChangeArrowheads="1"/>
          </p:cNvSpPr>
          <p:nvPr>
            <p:ph type="body" idx="1"/>
          </p:nvPr>
        </p:nvSpPr>
        <p:spPr bwMode="auto">
          <a:xfrm>
            <a:off x="724185" y="771209"/>
            <a:ext cx="7902827" cy="40614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pPr>
            <a:r>
              <a:rPr lang="en-GB" altLang="en-US" sz="1600" b="1">
                <a:latin typeface="Times New Roman" panose="02020603050405020304" pitchFamily="18" charset="0"/>
                <a:cs typeface="Times New Roman" panose="02020603050405020304" pitchFamily="18" charset="0"/>
              </a:rPr>
              <a:t>1.</a:t>
            </a:r>
            <a:r>
              <a:rPr lang="en-US" altLang="en-GB" sz="1600" b="1">
                <a:latin typeface="Times New Roman" panose="02020603050405020304" pitchFamily="18" charset="0"/>
                <a:cs typeface="Times New Roman" panose="02020603050405020304" pitchFamily="18" charset="0"/>
              </a:rPr>
              <a:t>Simple and Intuitive Design:</a:t>
            </a:r>
            <a:r>
              <a:rPr lang="en-US" altLang="en-GB" sz="1600">
                <a:latin typeface="Times New Roman" panose="02020603050405020304" pitchFamily="18" charset="0"/>
                <a:cs typeface="Times New Roman" panose="02020603050405020304" pitchFamily="18" charset="0"/>
              </a:rPr>
              <a:t> The use of a straightforward graphical user interface (GUI) ensures that users can easily interact with the application. The input field, button, and output area are clearly labeled and easy to understand, making it accessible to users with basic computer skills.</a:t>
            </a:r>
            <a:endParaRPr lang="en-US" altLang="en-GB" sz="1600">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pPr>
            <a:r>
              <a:rPr lang="en-US" altLang="en-GB" sz="1600">
                <a:latin typeface="Times New Roman" panose="02020603050405020304" pitchFamily="18" charset="0"/>
                <a:cs typeface="Times New Roman" panose="02020603050405020304" pitchFamily="18" charset="0"/>
              </a:rPr>
              <a:t>Real-Time Weather Information: Users can quickly retrieve real-time weather data for any city, improving their convenience and helping them plan their activities or travel.</a:t>
            </a:r>
            <a:endParaRPr lang="en-US" altLang="en-GB" sz="1600">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pPr>
            <a:r>
              <a:rPr lang="en-US" altLang="en-GB" sz="1600">
                <a:latin typeface="Times New Roman" panose="02020603050405020304" pitchFamily="18" charset="0"/>
                <a:cs typeface="Times New Roman" panose="02020603050405020304" pitchFamily="18" charset="0"/>
              </a:rPr>
              <a:t>2. </a:t>
            </a:r>
            <a:r>
              <a:rPr lang="en-US" altLang="en-GB" sz="1600" b="1">
                <a:latin typeface="Times New Roman" panose="02020603050405020304" pitchFamily="18" charset="0"/>
                <a:cs typeface="Times New Roman" panose="02020603050405020304" pitchFamily="18" charset="0"/>
              </a:rPr>
              <a:t>Real-Time Data Retrieval</a:t>
            </a:r>
            <a:endParaRPr lang="en-US" altLang="en-GB" sz="1600">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pPr>
            <a:r>
              <a:rPr lang="en-US" altLang="en-GB" sz="1600">
                <a:latin typeface="Times New Roman" panose="02020603050405020304" pitchFamily="18" charset="0"/>
                <a:cs typeface="Times New Roman" panose="02020603050405020304" pitchFamily="18" charset="0"/>
              </a:rPr>
              <a:t>OpenWeatherMap API Integration: By integrating with the OpenWeatherMap API, the system ensures that the data it provides is accurate and up-to-date. The user can rely on the application to give them the most current weather conditions without the need for manual updates.</a:t>
            </a:r>
            <a:endParaRPr lang="en-US" altLang="en-GB" sz="1600">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pPr>
            <a:r>
              <a:rPr lang="en-US" altLang="en-GB" sz="1600">
                <a:latin typeface="Times New Roman" panose="02020603050405020304" pitchFamily="18" charset="0"/>
                <a:cs typeface="Times New Roman" panose="02020603050405020304" pitchFamily="18" charset="0"/>
              </a:rPr>
              <a:t>Global Coverage: The application supports weather data for any city worldwide, thanks to the API’s broad coverage. This allows users to get weather forecasts for cities in any country or continent.</a:t>
            </a:r>
            <a:endParaRPr lang="en-US" altLang="en-GB" sz="160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endParaRPr lang="en-US" altLang="en-GB" sz="1600">
              <a:latin typeface="Times New Roman" panose="02020603050405020304" pitchFamily="18" charset="0"/>
              <a:cs typeface="Times New Roman" panose="02020603050405020304" pitchFamily="18" charset="0"/>
            </a:endParaRPr>
          </a:p>
        </p:txBody>
      </p:sp>
    </p:spTree>
  </p:cSld>
  <p:clrMapOvr>
    <a:overrideClrMapping bg1="lt1" tx1="dk1" bg2="dk2" tx2="lt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1338" y="445025"/>
            <a:ext cx="7514896" cy="572700"/>
          </a:xfrm>
        </p:spPr>
        <p:txBody>
          <a:bodyPr>
            <a:normAutofit fontScale="90000"/>
          </a:bodyPr>
          <a:lstStyle/>
          <a:p>
            <a:r>
              <a:rPr lang="en-US" dirty="0"/>
              <a:t>		</a:t>
            </a:r>
            <a:r>
              <a:rPr lang="en-US" b="1" dirty="0"/>
              <a:t>RESULT AND DISCUSSION</a:t>
            </a:r>
            <a:endParaRPr lang="en-IN" b="1" dirty="0"/>
          </a:p>
        </p:txBody>
      </p:sp>
      <p:pic>
        <p:nvPicPr>
          <p:cNvPr id="4" name="Google Shape;85;p17"/>
          <p:cNvPicPr preferRelativeResize="0"/>
          <p:nvPr/>
        </p:nvPicPr>
        <p:blipFill rotWithShape="1">
          <a:blip r:embed="rId1"/>
          <a:srcRect/>
          <a:stretch>
            <a:fillRect/>
          </a:stretch>
        </p:blipFill>
        <p:spPr>
          <a:xfrm>
            <a:off x="0" y="3"/>
            <a:ext cx="762558" cy="762395"/>
          </a:xfrm>
          <a:prstGeom prst="rect">
            <a:avLst/>
          </a:prstGeom>
          <a:noFill/>
          <a:ln>
            <a:noFill/>
          </a:ln>
        </p:spPr>
      </p:pic>
      <p:pic>
        <p:nvPicPr>
          <p:cNvPr id="5" name="Google Shape;86;p17"/>
          <p:cNvPicPr preferRelativeResize="0"/>
          <p:nvPr/>
        </p:nvPicPr>
        <p:blipFill rotWithShape="1">
          <a:blip r:embed="rId2"/>
          <a:srcRect/>
          <a:stretch>
            <a:fillRect/>
          </a:stretch>
        </p:blipFill>
        <p:spPr>
          <a:xfrm>
            <a:off x="8319030" y="6"/>
            <a:ext cx="824970" cy="795591"/>
          </a:xfrm>
          <a:prstGeom prst="rect">
            <a:avLst/>
          </a:prstGeom>
          <a:noFill/>
          <a:ln>
            <a:noFill/>
          </a:ln>
        </p:spPr>
      </p:pic>
      <p:pic>
        <p:nvPicPr>
          <p:cNvPr id="8" name="Picture 7" descr="Screenshot 2024-11-30 145826"/>
          <p:cNvPicPr>
            <a:picLocks noChangeAspect="1"/>
          </p:cNvPicPr>
          <p:nvPr/>
        </p:nvPicPr>
        <p:blipFill>
          <a:blip r:embed="rId3"/>
          <a:stretch>
            <a:fillRect/>
          </a:stretch>
        </p:blipFill>
        <p:spPr>
          <a:xfrm>
            <a:off x="455295" y="1577975"/>
            <a:ext cx="3730625" cy="2830195"/>
          </a:xfrm>
          <a:prstGeom prst="rect">
            <a:avLst/>
          </a:prstGeom>
        </p:spPr>
      </p:pic>
      <p:pic>
        <p:nvPicPr>
          <p:cNvPr id="3" name="Picture 2" descr="Screenshot 2024-11-30 145935"/>
          <p:cNvPicPr>
            <a:picLocks noChangeAspect="1"/>
          </p:cNvPicPr>
          <p:nvPr/>
        </p:nvPicPr>
        <p:blipFill>
          <a:blip r:embed="rId4"/>
          <a:stretch>
            <a:fillRect/>
          </a:stretch>
        </p:blipFill>
        <p:spPr>
          <a:xfrm>
            <a:off x="4654550" y="1577975"/>
            <a:ext cx="3575050" cy="2938145"/>
          </a:xfrm>
          <a:prstGeom prst="rect">
            <a:avLst/>
          </a:prstGeom>
        </p:spPr>
      </p:pic>
      <p:sp>
        <p:nvSpPr>
          <p:cNvPr id="6" name="Text Box 5"/>
          <p:cNvSpPr txBox="1"/>
          <p:nvPr/>
        </p:nvSpPr>
        <p:spPr>
          <a:xfrm>
            <a:off x="4883785" y="1710055"/>
            <a:ext cx="3345815" cy="794385"/>
          </a:xfrm>
          <a:prstGeom prst="rect">
            <a:avLst/>
          </a:prstGeom>
          <a:noFill/>
        </p:spPr>
        <p:txBody>
          <a:bodyPr wrap="square" rtlCol="0">
            <a:noAutofit/>
          </a:bodyPr>
          <a:p>
            <a:endParaRPr lang="en-GB"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1338" y="445025"/>
            <a:ext cx="7514896" cy="572700"/>
          </a:xfrm>
        </p:spPr>
        <p:txBody>
          <a:bodyPr>
            <a:normAutofit fontScale="90000"/>
          </a:bodyPr>
          <a:lstStyle/>
          <a:p>
            <a:r>
              <a:rPr lang="en-US" dirty="0"/>
              <a:t>		</a:t>
            </a:r>
            <a:r>
              <a:rPr lang="en-US" b="1" dirty="0"/>
              <a:t>RESULT AND DISCUSSION</a:t>
            </a:r>
            <a:endParaRPr lang="en-IN" b="1" dirty="0"/>
          </a:p>
        </p:txBody>
      </p:sp>
      <p:pic>
        <p:nvPicPr>
          <p:cNvPr id="4" name="Google Shape;85;p17"/>
          <p:cNvPicPr preferRelativeResize="0"/>
          <p:nvPr/>
        </p:nvPicPr>
        <p:blipFill rotWithShape="1">
          <a:blip r:embed="rId1"/>
          <a:srcRect/>
          <a:stretch>
            <a:fillRect/>
          </a:stretch>
        </p:blipFill>
        <p:spPr>
          <a:xfrm>
            <a:off x="0" y="3"/>
            <a:ext cx="762558" cy="762395"/>
          </a:xfrm>
          <a:prstGeom prst="rect">
            <a:avLst/>
          </a:prstGeom>
          <a:noFill/>
          <a:ln>
            <a:noFill/>
          </a:ln>
        </p:spPr>
      </p:pic>
      <p:pic>
        <p:nvPicPr>
          <p:cNvPr id="5" name="Google Shape;86;p17"/>
          <p:cNvPicPr preferRelativeResize="0"/>
          <p:nvPr/>
        </p:nvPicPr>
        <p:blipFill rotWithShape="1">
          <a:blip r:embed="rId2"/>
          <a:srcRect/>
          <a:stretch>
            <a:fillRect/>
          </a:stretch>
        </p:blipFill>
        <p:spPr>
          <a:xfrm>
            <a:off x="8319030" y="6"/>
            <a:ext cx="824970" cy="795591"/>
          </a:xfrm>
          <a:prstGeom prst="rect">
            <a:avLst/>
          </a:prstGeom>
          <a:noFill/>
          <a:ln>
            <a:noFill/>
          </a:ln>
        </p:spPr>
      </p:pic>
      <p:pic>
        <p:nvPicPr>
          <p:cNvPr id="3" name="Picture 2" descr="Screenshot 2024-11-30 145553"/>
          <p:cNvPicPr>
            <a:picLocks noChangeAspect="1"/>
          </p:cNvPicPr>
          <p:nvPr/>
        </p:nvPicPr>
        <p:blipFill>
          <a:blip r:embed="rId3"/>
          <a:stretch>
            <a:fillRect/>
          </a:stretch>
        </p:blipFill>
        <p:spPr>
          <a:xfrm>
            <a:off x="547370" y="1509395"/>
            <a:ext cx="3679825" cy="2791460"/>
          </a:xfrm>
          <a:prstGeom prst="rect">
            <a:avLst/>
          </a:prstGeom>
        </p:spPr>
      </p:pic>
      <p:pic>
        <p:nvPicPr>
          <p:cNvPr id="11" name="Picture 10" descr="Screenshot 2024-11-24 191046"/>
          <p:cNvPicPr>
            <a:picLocks noChangeAspect="1"/>
          </p:cNvPicPr>
          <p:nvPr/>
        </p:nvPicPr>
        <p:blipFill>
          <a:blip r:embed="rId4"/>
          <a:stretch>
            <a:fillRect/>
          </a:stretch>
        </p:blipFill>
        <p:spPr>
          <a:xfrm>
            <a:off x="4646930" y="1536700"/>
            <a:ext cx="3719195" cy="282130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24"/>
          <p:cNvSpPr txBox="1"/>
          <p:nvPr/>
        </p:nvSpPr>
        <p:spPr>
          <a:xfrm>
            <a:off x="38100" y="1835250"/>
            <a:ext cx="9067800" cy="8619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GB" sz="4400" b="1">
                <a:solidFill>
                  <a:schemeClr val="dk1"/>
                </a:solidFill>
              </a:rPr>
              <a:t>THANK YOU</a:t>
            </a:r>
            <a:endParaRPr sz="2400" b="1">
              <a:solidFill>
                <a:srgbClr val="FF0000"/>
              </a:solidFill>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themeOverride>
</file>

<file path=docProps/app.xml><?xml version="1.0" encoding="utf-8"?>
<Properties xmlns="http://schemas.openxmlformats.org/officeDocument/2006/extended-properties" xmlns:vt="http://schemas.openxmlformats.org/officeDocument/2006/docPropsVTypes">
  <TotalTime>0</TotalTime>
  <Words>6236</Words>
  <Application>WPS Presentation</Application>
  <PresentationFormat>On-screen Show (16:9)</PresentationFormat>
  <Paragraphs>95</Paragraphs>
  <Slides>13</Slides>
  <Notes>7</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13</vt:i4>
      </vt:variant>
    </vt:vector>
  </HeadingPairs>
  <TitlesOfParts>
    <vt:vector size="25" baseType="lpstr">
      <vt:lpstr>Arial</vt:lpstr>
      <vt:lpstr>SimSun</vt:lpstr>
      <vt:lpstr>Wingdings</vt:lpstr>
      <vt:lpstr>Arial</vt:lpstr>
      <vt:lpstr>Times New Roman</vt:lpstr>
      <vt:lpstr>Calibri</vt:lpstr>
      <vt:lpstr>Arial Narrow</vt:lpstr>
      <vt:lpstr>WenQuanYi Micro Hei</vt:lpstr>
      <vt:lpstr>Segoe Print</vt:lpstr>
      <vt:lpstr>Microsoft YaHei</vt:lpstr>
      <vt:lpstr>Arial Unicode MS</vt:lpstr>
      <vt:lpstr>Simple Light</vt:lpstr>
      <vt:lpstr>PowerPoint 演示文稿</vt:lpstr>
      <vt:lpstr>PowerPoint 演示文稿</vt:lpstr>
      <vt:lpstr>OBJECTIVE</vt:lpstr>
      <vt:lpstr>PowerPoint 演示文稿</vt:lpstr>
      <vt:lpstr>		 PROBLEM STATEMENT</vt:lpstr>
      <vt:lpstr>Methodologies (Programming concepts relevant to problem statement) </vt:lpstr>
      <vt:lpstr>PowerPoint 演示文稿</vt:lpstr>
      <vt:lpstr>PowerPoint 演示文稿</vt:lpstr>
      <vt:lpstr>PowerPoint 演示文稿</vt:lpstr>
      <vt:lpstr>MERITS </vt:lpstr>
      <vt:lpstr>		RESULT AND DISCUSSION</vt:lpstr>
      <vt:lpstr>		RESULT AND DISCUSSION</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VIJESH S S</dc:creator>
  <cp:lastModifiedBy>Somes</cp:lastModifiedBy>
  <cp:revision>25</cp:revision>
  <dcterms:created xsi:type="dcterms:W3CDTF">2024-12-05T15:25:40Z</dcterms:created>
  <dcterms:modified xsi:type="dcterms:W3CDTF">2024-12-05T15:47:21Z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CC181C15A3984CEB8DC64B98ED1D90A7_13</vt:lpwstr>
  </property>
  <property fmtid="{D5CDD505-2E9C-101B-9397-08002B2CF9AE}" pid="3" name="KSOProductBuildVer">
    <vt:lpwstr>2057-12.2.0.19307</vt:lpwstr>
  </property>
</Properties>
</file>